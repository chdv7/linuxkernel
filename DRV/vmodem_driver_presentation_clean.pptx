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45535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Открыть с постановки задачи: драйвер имитирует COM-порт с GSM-модемом и позволяет через AT-команды демонстрировать модем, SIM-карту, сеть и вызов.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51560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altLang="en-US" sz="4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Виртуальный GSM‑модем</a:t>
            </a:r>
            <a:endParaRPr lang="ru-RU" sz="4200" dirty="0"/>
          </a:p>
        </p:txBody>
      </p:sp>
      <p:sp>
        <p:nvSpPr>
          <p:cNvPr id="3" name="Text 1"/>
          <p:cNvSpPr/>
          <p:nvPr/>
        </p:nvSpPr>
        <p:spPr>
          <a:xfrm>
            <a:off x="713232" y="178308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altLang="en-US" sz="1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Символьный драйвер Linux: структура, сборка, тестирование и демонстрация</a:t>
            </a:r>
            <a:endParaRPr lang="ru-RU" sz="1900" dirty="0"/>
          </a:p>
        </p:txBody>
      </p:sp>
      <p:sp>
        <p:nvSpPr>
          <p:cNvPr id="4" name="Text 2"/>
          <p:cNvSpPr/>
          <p:nvPr/>
        </p:nvSpPr>
        <p:spPr>
          <a:xfrm>
            <a:off x="7479792" y="2798064"/>
            <a:ext cx="2057400" cy="384048"/>
          </a:xfrm>
          <a:prstGeom prst="roundRect">
            <a:avLst>
              <a:gd name="adj" fmla="val 14286"/>
            </a:avLst>
          </a:prstGeom>
          <a:solidFill>
            <a:srgbClr val="38BDF8"/>
          </a:solidFill>
          <a:ln>
            <a:solidFill>
              <a:srgbClr val="38BDF8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/dev/vmodem0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0" y="3401568"/>
            <a:ext cx="4041648" cy="1024128"/>
          </a:xfrm>
          <a:prstGeom prst="roundRect">
            <a:avLst>
              <a:gd name="adj" fmla="val 6250"/>
            </a:avLst>
          </a:prstGeom>
          <a:solidFill>
            <a:srgbClr val="020617"/>
          </a:solidFill>
          <a:ln w="12700">
            <a:solidFill>
              <a:srgbClr val="334155"/>
            </a:solidFill>
          </a:ln>
        </p:spPr>
        <p:txBody>
          <a:bodyPr wrap="square" lIns="1778" tIns="1778" rIns="1778" bIns="1778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22C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AT+CGSN  →  IMEI</a:t>
            </a:r>
            <a:endParaRPr lang="en-US" sz="1550" dirty="0"/>
          </a:p>
          <a:p>
            <a:pPr marL="0" indent="0">
              <a:buNone/>
            </a:pPr>
            <a:r>
              <a:rPr lang="en-US" sz="1550" dirty="0">
                <a:solidFill>
                  <a:srgbClr val="22C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AT+CIMI  →  IMSI</a:t>
            </a:r>
            <a:endParaRPr lang="en-US" sz="1550" dirty="0"/>
          </a:p>
          <a:p>
            <a:pPr marL="0" indent="0">
              <a:buNone/>
            </a:pPr>
            <a:r>
              <a:rPr lang="en-US" sz="1550" dirty="0">
                <a:solidFill>
                  <a:srgbClr val="22C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ATD123;  →  CONNECT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9418320" y="3191256"/>
            <a:ext cx="0" cy="192024"/>
          </a:xfrm>
          <a:prstGeom prst="line">
            <a:avLst/>
          </a:prstGeom>
          <a:noFill/>
          <a:ln w="22860">
            <a:solidFill>
              <a:srgbClr val="22C55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49808" y="59618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DRV / LinuxKernel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292840" y="6419088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ПЛАН ПРЕЗЕНТАЦИИ</a:t>
            </a: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t>Структура презентации</a:t>
            </a:r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334155">
                <a:alpha val="8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31520" y="1499616"/>
            <a:ext cx="1417320" cy="310896"/>
          </a:xfrm>
          <a:prstGeom prst="roundRect">
            <a:avLst>
              <a:gd name="adj" fmla="val 23529"/>
            </a:avLst>
          </a:prstGeom>
          <a:solidFill>
            <a:srgbClr val="38BDF8"/>
          </a:solidFill>
          <a:ln>
            <a:solidFill>
              <a:srgbClr val="38BDF8">
                <a:alpha val="0"/>
              </a:srgbClr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ru-RU" altLang="en-US" sz="1000" b="1" dirty="0">
                <a:solidFill>
                  <a:srgbClr val="0B1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ТЕХНИКА</a:t>
            </a:r>
            <a:endParaRPr lang="ru-RU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2907792" cy="2331720"/>
          </a:xfrm>
          <a:prstGeom prst="roundRect">
            <a:avLst>
              <a:gd name="adj" fmla="val 3137"/>
            </a:avLst>
          </a:prstGeom>
          <a:solidFill>
            <a:srgbClr val="101828"/>
          </a:solidFill>
          <a:ln w="12700">
            <a:solidFill>
              <a:srgbClr val="334155"/>
            </a:solidFill>
          </a:ln>
        </p:spPr>
        <p:txBody>
          <a:bodyPr wrap="square" lIns="1778" tIns="1778" rIns="1778" bIns="1778" rtlCol="0" anchor="t">
            <a:normAutofit/>
          </a:bodyPr>
          <a:lstStyle/>
          <a:p>
            <a:pPr marL="0" indent="0" algn="l">
              <a:buNone/>
            </a:pPr>
            <a:r>
              <a:rPr lang="ru-RU" altLang="en-US" sz="157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Структура драйвера</a:t>
            </a:r>
            <a:endParaRPr lang="ru-RU" sz="1570" dirty="0"/>
          </a:p>
          <a:p>
            <a:pPr marL="0" indent="0" algn="l">
              <a:buNone/>
            </a:pPr>
            <a:endParaRPr lang="ru-RU" sz="1570" dirty="0"/>
          </a:p>
          <a:p>
            <a:pPr marL="0" indent="0" algn="l">
              <a:buNone/>
            </a:pPr>
            <a:r>
              <a:rPr lang="ru-RU" altLang="en-US" sz="157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Файлы проекта, регистрация char device, file_operations, состояние vmodem_device.</a:t>
            </a:r>
            <a:endParaRPr lang="ru-RU" sz="1570" dirty="0"/>
          </a:p>
        </p:txBody>
      </p:sp>
      <p:sp>
        <p:nvSpPr>
          <p:cNvPr id="7" name="Text 5"/>
          <p:cNvSpPr/>
          <p:nvPr/>
        </p:nvSpPr>
        <p:spPr>
          <a:xfrm>
            <a:off x="4160520" y="1499616"/>
            <a:ext cx="1417320" cy="310896"/>
          </a:xfrm>
          <a:prstGeom prst="roundRect">
            <a:avLst>
              <a:gd name="adj" fmla="val 23529"/>
            </a:avLst>
          </a:prstGeom>
          <a:solidFill>
            <a:srgbClr val="FBBF24"/>
          </a:solidFill>
          <a:ln>
            <a:solidFill>
              <a:srgbClr val="FBBF24">
                <a:alpha val="0"/>
              </a:srgbClr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ru-RU" altLang="en-US" sz="1000" b="1" dirty="0">
                <a:solidFill>
                  <a:srgbClr val="0B1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</a:t>
            </a:r>
            <a:endParaRPr lang="ru-RU" sz="1000" dirty="0"/>
          </a:p>
        </p:txBody>
      </p:sp>
      <p:sp>
        <p:nvSpPr>
          <p:cNvPr id="8" name="Text 6"/>
          <p:cNvSpPr/>
          <p:nvPr/>
        </p:nvSpPr>
        <p:spPr>
          <a:xfrm>
            <a:off x="4160520" y="1920240"/>
            <a:ext cx="2907792" cy="2331720"/>
          </a:xfrm>
          <a:prstGeom prst="roundRect">
            <a:avLst>
              <a:gd name="adj" fmla="val 3137"/>
            </a:avLst>
          </a:prstGeom>
          <a:solidFill>
            <a:srgbClr val="101828"/>
          </a:solidFill>
          <a:ln w="12700">
            <a:solidFill>
              <a:srgbClr val="334155"/>
            </a:solidFill>
          </a:ln>
        </p:spPr>
        <p:txBody>
          <a:bodyPr wrap="square" lIns="1778" tIns="1778" rIns="1778" bIns="1778" rtlCol="0" anchor="t">
            <a:normAutofit/>
          </a:bodyPr>
          <a:lstStyle/>
          <a:p>
            <a:pPr marL="0" indent="0" algn="l">
              <a:buNone/>
            </a:pPr>
            <a:r>
              <a:rPr lang="ru-RU" altLang="en-US" sz="157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Сборка и тестирование</a:t>
            </a:r>
            <a:endParaRPr lang="ru-RU" sz="1570" dirty="0"/>
          </a:p>
          <a:p>
            <a:pPr marL="0" indent="0" algn="l">
              <a:buNone/>
            </a:pPr>
            <a:endParaRPr lang="ru-RU" sz="1570" dirty="0"/>
          </a:p>
          <a:p>
            <a:pPr marL="0" indent="0" algn="l">
              <a:buNone/>
            </a:pPr>
            <a:r>
              <a:rPr lang="ru-RU" altLang="en-US" sz="157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Kbuild, Makefile, vmodem.ko, загрузка модуля, автоматический check.sh.</a:t>
            </a:r>
            <a:endParaRPr lang="ru-RU" sz="1570" dirty="0"/>
          </a:p>
        </p:txBody>
      </p:sp>
      <p:sp>
        <p:nvSpPr>
          <p:cNvPr id="9" name="Text 7"/>
          <p:cNvSpPr/>
          <p:nvPr/>
        </p:nvSpPr>
        <p:spPr>
          <a:xfrm>
            <a:off x="7589520" y="1499616"/>
            <a:ext cx="1417320" cy="310896"/>
          </a:xfrm>
          <a:prstGeom prst="roundRect">
            <a:avLst>
              <a:gd name="adj" fmla="val 23529"/>
            </a:avLst>
          </a:prstGeom>
          <a:solidFill>
            <a:srgbClr val="22C55E"/>
          </a:solidFill>
          <a:ln>
            <a:solidFill>
              <a:srgbClr val="22C55E">
                <a:alpha val="0"/>
              </a:srgbClr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ru-RU" altLang="en-US" sz="1000" b="1" dirty="0">
                <a:solidFill>
                  <a:srgbClr val="0B1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СЦЕНАРИЙ</a:t>
            </a:r>
            <a:endParaRPr lang="ru-RU" sz="1000" dirty="0"/>
          </a:p>
        </p:txBody>
      </p:sp>
      <p:sp>
        <p:nvSpPr>
          <p:cNvPr id="10" name="Text 8"/>
          <p:cNvSpPr/>
          <p:nvPr/>
        </p:nvSpPr>
        <p:spPr>
          <a:xfrm>
            <a:off x="7589520" y="1920240"/>
            <a:ext cx="2907792" cy="2331720"/>
          </a:xfrm>
          <a:prstGeom prst="roundRect">
            <a:avLst>
              <a:gd name="adj" fmla="val 3137"/>
            </a:avLst>
          </a:prstGeom>
          <a:solidFill>
            <a:srgbClr val="101828"/>
          </a:solidFill>
          <a:ln w="12700">
            <a:solidFill>
              <a:srgbClr val="334155"/>
            </a:solidFill>
          </a:ln>
        </p:spPr>
        <p:txBody>
          <a:bodyPr wrap="square" lIns="1778" tIns="1778" rIns="1778" bIns="1778" rtlCol="0" anchor="t">
            <a:normAutofit/>
          </a:bodyPr>
          <a:lstStyle/>
          <a:p>
            <a:pPr marL="0" indent="0" algn="l">
              <a:buNone/>
            </a:pPr>
            <a:r>
              <a:rPr lang="ru-RU" altLang="en-US" sz="157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Использование и демонстрация</a:t>
            </a:r>
            <a:endParaRPr lang="ru-RU" sz="1570" dirty="0"/>
          </a:p>
          <a:p>
            <a:pPr marL="0" indent="0" algn="l">
              <a:buNone/>
            </a:pPr>
            <a:endParaRPr lang="ru-RU" sz="1570" dirty="0"/>
          </a:p>
          <a:p>
            <a:pPr marL="0" indent="0" algn="l">
              <a:buNone/>
            </a:pPr>
            <a:r>
              <a:rPr lang="ru-RU" altLang="en-US" sz="157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AT-команды, IMEI/IMSI, SIM, прохождение вызова и отражение в sysfs.</a:t>
            </a:r>
            <a:endParaRPr lang="ru-RU" sz="1570" dirty="0"/>
          </a:p>
        </p:txBody>
      </p:sp>
      <p:sp>
        <p:nvSpPr>
          <p:cNvPr id="11" name="Text 9"/>
          <p:cNvSpPr/>
          <p:nvPr/>
        </p:nvSpPr>
        <p:spPr>
          <a:xfrm>
            <a:off x="749808" y="498348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7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Связь интерфейсов: /dev/vmodem0 — AT‑команды клиента, sysfs — состояние эмулятора.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11292840" y="6419088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altLang="en-US" sz="88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ИДЕЯ</a:t>
            </a:r>
            <a:endParaRPr lang="ru-RU" sz="88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ru-RU" altLang="en-US" sz="27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Назначение проекта</a:t>
            </a:r>
            <a:endParaRPr lang="ru-RU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334155">
                <a:alpha val="8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2423160" y="2743200"/>
            <a:ext cx="1271016" cy="0"/>
          </a:xfrm>
          <a:prstGeom prst="line">
            <a:avLst/>
          </a:prstGeom>
          <a:noFill/>
          <a:ln w="22860">
            <a:solidFill>
              <a:srgbClr val="38BDF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074920" y="2743200"/>
            <a:ext cx="1298448" cy="0"/>
          </a:xfrm>
          <a:prstGeom prst="line">
            <a:avLst/>
          </a:prstGeom>
          <a:noFill/>
          <a:ln w="22860">
            <a:solidFill>
              <a:srgbClr val="38BDF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8092440" y="2743200"/>
            <a:ext cx="1280160" cy="0"/>
          </a:xfrm>
          <a:prstGeom prst="line">
            <a:avLst/>
          </a:prstGeom>
          <a:noFill/>
          <a:ln w="22860">
            <a:solidFill>
              <a:srgbClr val="38BDF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685800" y="214884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172033"/>
          </a:solidFill>
          <a:ln w="12700">
            <a:solidFill>
              <a:srgbClr val="334155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ru-RU" alt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Пользовательская</a:t>
            </a:r>
            <a:endParaRPr lang="ru-RU" sz="1400" dirty="0"/>
          </a:p>
          <a:p>
            <a:pPr marL="0" indent="0" algn="ctr">
              <a:buNone/>
            </a:pPr>
            <a:r>
              <a:rPr lang="ru-RU" alt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программа / minicom</a:t>
            </a:r>
            <a:endParaRPr lang="ru-RU" sz="1400" dirty="0"/>
          </a:p>
        </p:txBody>
      </p:sp>
      <p:sp>
        <p:nvSpPr>
          <p:cNvPr id="9" name="Text 7"/>
          <p:cNvSpPr/>
          <p:nvPr/>
        </p:nvSpPr>
        <p:spPr>
          <a:xfrm>
            <a:off x="3657600" y="214884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0C4A6E"/>
          </a:solidFill>
          <a:ln w="12700">
            <a:solidFill>
              <a:srgbClr val="334155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ru-RU" alt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/dev/vmodemN</a:t>
            </a:r>
            <a:endParaRPr lang="ru-RU" sz="1400" dirty="0"/>
          </a:p>
          <a:p>
            <a:pPr marL="0" indent="0" algn="ctr">
              <a:buNone/>
            </a:pPr>
            <a:r>
              <a:rPr lang="ru-RU" alt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COM‑подобный порт</a:t>
            </a:r>
            <a:endParaRPr lang="ru-RU" sz="1400" dirty="0"/>
          </a:p>
        </p:txBody>
      </p:sp>
      <p:sp>
        <p:nvSpPr>
          <p:cNvPr id="10" name="Text 8"/>
          <p:cNvSpPr/>
          <p:nvPr/>
        </p:nvSpPr>
        <p:spPr>
          <a:xfrm>
            <a:off x="6400800" y="214884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064E3B"/>
          </a:solidFill>
          <a:ln w="12700">
            <a:solidFill>
              <a:srgbClr val="334155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ru-RU" alt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Драйвер</a:t>
            </a:r>
            <a:endParaRPr lang="ru-RU" sz="1400" dirty="0"/>
          </a:p>
          <a:p>
            <a:pPr marL="0" indent="0" algn="ctr">
              <a:buNone/>
            </a:pPr>
            <a:r>
              <a:rPr lang="ru-RU" alt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vmodem.ko</a:t>
            </a:r>
            <a:endParaRPr lang="ru-RU" sz="1400" dirty="0"/>
          </a:p>
        </p:txBody>
      </p:sp>
      <p:sp>
        <p:nvSpPr>
          <p:cNvPr id="11" name="Text 9"/>
          <p:cNvSpPr/>
          <p:nvPr/>
        </p:nvSpPr>
        <p:spPr>
          <a:xfrm>
            <a:off x="9372600" y="2148840"/>
            <a:ext cx="2011680" cy="1188720"/>
          </a:xfrm>
          <a:prstGeom prst="roundRect">
            <a:avLst>
              <a:gd name="adj" fmla="val 6154"/>
            </a:avLst>
          </a:prstGeom>
          <a:solidFill>
            <a:srgbClr val="4C1D95"/>
          </a:solidFill>
          <a:ln w="12700">
            <a:solidFill>
              <a:srgbClr val="334155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ru-RU" alt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Состояние</a:t>
            </a:r>
            <a:endParaRPr lang="ru-RU" sz="1400" dirty="0"/>
          </a:p>
          <a:p>
            <a:pPr marL="0" indent="0" algn="ctr">
              <a:buNone/>
            </a:pPr>
            <a:r>
              <a:rPr lang="ru-RU" alt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модем + SIM + сеть</a:t>
            </a:r>
            <a:endParaRPr lang="ru-RU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4160520"/>
            <a:ext cx="1024128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ru-RU" altLang="en-US" sz="1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Модуль ядра создаёт от 1 до 16 устройств /dev/vmodemN.</a:t>
            </a:r>
            <a:endParaRPr lang="ru-RU" sz="1700" dirty="0"/>
          </a:p>
          <a:p>
            <a:r>
              <a:rPr lang="ru-RU" altLang="en-US" sz="1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Через write() передаются AT‑команды, через read() возвращаются ответы.</a:t>
            </a:r>
            <a:endParaRPr lang="ru-RU" sz="1700" dirty="0"/>
          </a:p>
          <a:p>
            <a:r>
              <a:rPr lang="ru-RU" altLang="en-US" sz="17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Через sysfs можно наблюдать и менять состояние эмулируемого оборудования.</a:t>
            </a:r>
            <a:endParaRPr lang="ru-RU" sz="1700" dirty="0"/>
          </a:p>
        </p:txBody>
      </p:sp>
      <p:sp>
        <p:nvSpPr>
          <p:cNvPr id="13" name="Text 11"/>
          <p:cNvSpPr/>
          <p:nvPr/>
        </p:nvSpPr>
        <p:spPr>
          <a:xfrm>
            <a:off x="11292840" y="6419088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altLang="en-US" sz="88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ИСХОДНИКИ</a:t>
            </a:r>
            <a:endParaRPr lang="ru-RU" sz="88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ru-RU" altLang="en-US" sz="27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Структура проекта DRV</a:t>
            </a:r>
            <a:endParaRPr lang="ru-RU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334155">
                <a:alpha val="8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40080" y="1444752"/>
            <a:ext cx="2971800" cy="4389120"/>
          </a:xfrm>
          <a:prstGeom prst="roundRect">
            <a:avLst>
              <a:gd name="adj" fmla="val 1538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txBody>
          <a:bodyPr wrap="square" lIns="1905" tIns="1905" rIns="1905" bIns="1905" rtlCol="0" anchor="ctr">
            <a:normAutofit/>
          </a:bodyPr>
          <a:lstStyle/>
          <a:p>
            <a:pPr marL="0" indent="0">
              <a:buNone/>
            </a:pPr>
            <a:r>
              <a:rPr lang="en-US" sz="127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DRV/</a:t>
            </a:r>
            <a:endParaRPr lang="en-US" sz="1270" dirty="0"/>
          </a:p>
          <a:p>
            <a:pPr marL="0" indent="0">
              <a:buNone/>
            </a:pPr>
            <a:r>
              <a:rPr lang="en-US" sz="127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Kbuild</a:t>
            </a:r>
            <a:endParaRPr lang="en-US" sz="1270" dirty="0"/>
          </a:p>
          <a:p>
            <a:pPr marL="0" indent="0">
              <a:buNone/>
            </a:pPr>
            <a:r>
              <a:rPr lang="en-US" sz="127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Makefile</a:t>
            </a:r>
            <a:endParaRPr lang="en-US" sz="1270" dirty="0"/>
          </a:p>
          <a:p>
            <a:pPr marL="0" indent="0">
              <a:buNone/>
            </a:pPr>
            <a:r>
              <a:rPr lang="en-US" sz="127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check.sh</a:t>
            </a:r>
            <a:endParaRPr lang="en-US" sz="1270" dirty="0"/>
          </a:p>
          <a:p>
            <a:pPr marL="0" indent="0">
              <a:buNone/>
            </a:pPr>
            <a:r>
              <a:rPr lang="en-US" sz="127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src/</a:t>
            </a:r>
            <a:endParaRPr lang="en-US" sz="1270" dirty="0"/>
          </a:p>
          <a:p>
            <a:pPr marL="0" indent="0">
              <a:buNone/>
            </a:pPr>
            <a:r>
              <a:rPr lang="en-US" sz="127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├── main.c</a:t>
            </a:r>
            <a:endParaRPr lang="en-US" sz="1270" dirty="0"/>
          </a:p>
          <a:p>
            <a:pPr marL="0" indent="0">
              <a:buNone/>
            </a:pPr>
            <a:r>
              <a:rPr lang="en-US" sz="127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├── device.c</a:t>
            </a:r>
            <a:endParaRPr lang="en-US" sz="1270" dirty="0"/>
          </a:p>
          <a:p>
            <a:pPr marL="0" indent="0">
              <a:buNone/>
            </a:pPr>
            <a:r>
              <a:rPr lang="en-US" sz="127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├── state.c</a:t>
            </a:r>
            <a:endParaRPr lang="en-US" sz="1270" dirty="0"/>
          </a:p>
          <a:p>
            <a:pPr marL="0" indent="0">
              <a:buNone/>
            </a:pPr>
            <a:r>
              <a:rPr lang="en-US" sz="127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├── at.c</a:t>
            </a:r>
            <a:endParaRPr lang="en-US" sz="1270" dirty="0"/>
          </a:p>
          <a:p>
            <a:pPr marL="0" indent="0">
              <a:buNone/>
            </a:pPr>
            <a:r>
              <a:rPr lang="en-US" sz="127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├── ioctl.c</a:t>
            </a:r>
            <a:endParaRPr lang="en-US" sz="1270" dirty="0"/>
          </a:p>
          <a:p>
            <a:pPr marL="0" indent="0">
              <a:buNone/>
            </a:pPr>
            <a:r>
              <a:rPr lang="en-US" sz="127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├── proc.c</a:t>
            </a:r>
            <a:endParaRPr lang="en-US" sz="1270" dirty="0"/>
          </a:p>
          <a:p>
            <a:pPr marL="0" indent="0">
              <a:buNone/>
            </a:pPr>
            <a:r>
              <a:rPr lang="en-US" sz="127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├── sysfs.c</a:t>
            </a:r>
            <a:endParaRPr lang="en-US" sz="1270" dirty="0"/>
          </a:p>
          <a:p>
            <a:pPr marL="0" indent="0">
              <a:buNone/>
            </a:pPr>
            <a:r>
              <a:rPr lang="en-US" sz="127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└── vmodem.h</a:t>
            </a:r>
            <a:endParaRPr lang="en-US" sz="1270" dirty="0"/>
          </a:p>
        </p:txBody>
      </p:sp>
      <p:sp>
        <p:nvSpPr>
          <p:cNvPr id="6" name="Text 4"/>
          <p:cNvSpPr/>
          <p:nvPr/>
        </p:nvSpPr>
        <p:spPr>
          <a:xfrm>
            <a:off x="3977640" y="1463040"/>
            <a:ext cx="2057400" cy="438912"/>
          </a:xfrm>
          <a:prstGeom prst="roundRect">
            <a:avLst>
              <a:gd name="adj" fmla="val 16667"/>
            </a:avLst>
          </a:prstGeom>
          <a:solidFill>
            <a:srgbClr val="38BDF8"/>
          </a:solidFill>
          <a:ln w="12700">
            <a:solidFill>
              <a:srgbClr val="334155">
                <a:alpha val="0"/>
              </a:srgbClr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 algn="ctr">
              <a:buNone/>
            </a:pPr>
            <a:r>
              <a:rPr lang="ru-RU" altLang="en-US" sz="1550" b="1" dirty="0">
                <a:solidFill>
                  <a:srgbClr val="0B1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Linux‑инфраструктура</a:t>
            </a:r>
            <a:endParaRPr lang="ru-RU" sz="1550" dirty="0"/>
          </a:p>
        </p:txBody>
      </p:sp>
      <p:sp>
        <p:nvSpPr>
          <p:cNvPr id="7" name="Text 5"/>
          <p:cNvSpPr/>
          <p:nvPr/>
        </p:nvSpPr>
        <p:spPr>
          <a:xfrm>
            <a:off x="3977640" y="2066544"/>
            <a:ext cx="2057400" cy="914400"/>
          </a:xfrm>
          <a:prstGeom prst="roundRect">
            <a:avLst>
              <a:gd name="adj" fmla="val 5000"/>
            </a:avLst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1905" tIns="1905" rIns="1905" bIns="1905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main.c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device.c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vmodem.h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977640" y="324612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загрузка модуля, cdev, /dev/vmodemN, file_operations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446520" y="1463040"/>
            <a:ext cx="2057400" cy="438912"/>
          </a:xfrm>
          <a:prstGeom prst="roundRect">
            <a:avLst>
              <a:gd name="adj" fmla="val 16667"/>
            </a:avLst>
          </a:prstGeom>
          <a:solidFill>
            <a:srgbClr val="22C55E"/>
          </a:solidFill>
          <a:ln w="12700">
            <a:solidFill>
              <a:srgbClr val="334155">
                <a:alpha val="0"/>
              </a:srgbClr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 algn="ctr">
              <a:buNone/>
            </a:pPr>
            <a:r>
              <a:rPr lang="ru-RU" altLang="en-US" sz="1550" b="1" dirty="0">
                <a:solidFill>
                  <a:srgbClr val="0B1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Логика модема</a:t>
            </a:r>
            <a:endParaRPr lang="ru-RU" sz="1550" dirty="0"/>
          </a:p>
        </p:txBody>
      </p:sp>
      <p:sp>
        <p:nvSpPr>
          <p:cNvPr id="10" name="Text 8"/>
          <p:cNvSpPr/>
          <p:nvPr/>
        </p:nvSpPr>
        <p:spPr>
          <a:xfrm>
            <a:off x="6446520" y="2066544"/>
            <a:ext cx="2057400" cy="914400"/>
          </a:xfrm>
          <a:prstGeom prst="roundRect">
            <a:avLst>
              <a:gd name="adj" fmla="val 5000"/>
            </a:avLst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1905" tIns="1905" rIns="1905" bIns="1905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state.c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at.c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46520" y="324612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состояние, AT‑команды, IMEI, IMSI, SIM, звонки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915400" y="1463040"/>
            <a:ext cx="2057400" cy="438912"/>
          </a:xfrm>
          <a:prstGeom prst="roundRect">
            <a:avLst>
              <a:gd name="adj" fmla="val 16667"/>
            </a:avLst>
          </a:prstGeom>
          <a:solidFill>
            <a:srgbClr val="A78BFA"/>
          </a:solidFill>
          <a:ln w="12700">
            <a:solidFill>
              <a:srgbClr val="334155">
                <a:alpha val="0"/>
              </a:srgbClr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 algn="ctr">
              <a:buNone/>
            </a:pPr>
            <a:r>
              <a:rPr lang="ru-RU" altLang="en-US" sz="1550" b="1" dirty="0">
                <a:solidFill>
                  <a:srgbClr val="0B1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Интерфейсы контроля</a:t>
            </a:r>
            <a:endParaRPr lang="ru-RU" sz="1550" dirty="0"/>
          </a:p>
        </p:txBody>
      </p:sp>
      <p:sp>
        <p:nvSpPr>
          <p:cNvPr id="13" name="Text 11"/>
          <p:cNvSpPr/>
          <p:nvPr/>
        </p:nvSpPr>
        <p:spPr>
          <a:xfrm>
            <a:off x="8915400" y="2066544"/>
            <a:ext cx="2057400" cy="914400"/>
          </a:xfrm>
          <a:prstGeom prst="roundRect">
            <a:avLst>
              <a:gd name="adj" fmla="val 5000"/>
            </a:avLst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1905" tIns="1905" rIns="1905" bIns="1905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sysfs.c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proc.c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ioctl.c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915400" y="324612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/sys, /proc/vmodem, ioctl GET_STATE / RESET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1292840" y="6419088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altLang="en-US" sz="88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KERNEL LIFECYCLE</a:t>
            </a:r>
            <a:endParaRPr lang="ru-RU" sz="88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ru-RU" altLang="en-US" sz="27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Загрузка модуля и регистрация устройств</a:t>
            </a:r>
            <a:endParaRPr lang="ru-RU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334155">
                <a:alpha val="8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847088" y="2212848"/>
            <a:ext cx="0" cy="420624"/>
          </a:xfrm>
          <a:prstGeom prst="line">
            <a:avLst/>
          </a:prstGeom>
          <a:noFill/>
          <a:ln w="22860">
            <a:solidFill>
              <a:srgbClr val="38BDF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847088" y="3127248"/>
            <a:ext cx="0" cy="420624"/>
          </a:xfrm>
          <a:prstGeom prst="line">
            <a:avLst/>
          </a:prstGeom>
          <a:noFill/>
          <a:ln w="22860">
            <a:solidFill>
              <a:srgbClr val="38BDF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847088" y="4041648"/>
            <a:ext cx="0" cy="420624"/>
          </a:xfrm>
          <a:prstGeom prst="line">
            <a:avLst/>
          </a:prstGeom>
          <a:noFill/>
          <a:ln w="22860">
            <a:solidFill>
              <a:srgbClr val="38BDF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847088" y="4956048"/>
            <a:ext cx="0" cy="420624"/>
          </a:xfrm>
          <a:prstGeom prst="line">
            <a:avLst/>
          </a:prstGeom>
          <a:noFill/>
          <a:ln w="22860">
            <a:solidFill>
              <a:srgbClr val="38BDF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40080" y="1536192"/>
            <a:ext cx="2423160" cy="685800"/>
          </a:xfrm>
          <a:prstGeom prst="roundRect">
            <a:avLst>
              <a:gd name="adj" fmla="val 10667"/>
            </a:avLst>
          </a:prstGeom>
          <a:solidFill>
            <a:srgbClr val="172033"/>
          </a:solidFill>
          <a:ln w="12700">
            <a:solidFill>
              <a:srgbClr val="334155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ru-RU" altLang="en-US" sz="13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module_init</a:t>
            </a:r>
            <a:endParaRPr lang="ru-RU" sz="1350" dirty="0"/>
          </a:p>
          <a:p>
            <a:pPr marL="0" indent="0" algn="ctr">
              <a:buNone/>
            </a:pPr>
            <a:r>
              <a:rPr lang="ru-RU" altLang="en-US" sz="13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vmodem_init()</a:t>
            </a:r>
            <a:endParaRPr lang="ru-RU" sz="1350" dirty="0"/>
          </a:p>
        </p:txBody>
      </p:sp>
      <p:sp>
        <p:nvSpPr>
          <p:cNvPr id="10" name="Text 8"/>
          <p:cNvSpPr/>
          <p:nvPr/>
        </p:nvSpPr>
        <p:spPr>
          <a:xfrm>
            <a:off x="640080" y="2633472"/>
            <a:ext cx="2423160" cy="502920"/>
          </a:xfrm>
          <a:prstGeom prst="roundRect">
            <a:avLst>
              <a:gd name="adj" fmla="val 14545"/>
            </a:avLst>
          </a:prstGeom>
          <a:solidFill>
            <a:srgbClr val="0C4A6E"/>
          </a:solidFill>
          <a:ln w="12700">
            <a:solidFill>
              <a:srgbClr val="334155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ru-RU" altLang="en-US" sz="13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vmodem_devices_create()</a:t>
            </a:r>
            <a:endParaRPr lang="ru-RU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3547872"/>
            <a:ext cx="2423160" cy="502920"/>
          </a:xfrm>
          <a:prstGeom prst="roundRect">
            <a:avLst>
              <a:gd name="adj" fmla="val 14545"/>
            </a:avLst>
          </a:prstGeom>
          <a:solidFill>
            <a:srgbClr val="064E3B"/>
          </a:solidFill>
          <a:ln w="12700">
            <a:solidFill>
              <a:srgbClr val="334155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ru-RU" altLang="en-US" sz="13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создание /dev/vmodemN</a:t>
            </a:r>
            <a:endParaRPr lang="ru-RU" sz="1350" dirty="0"/>
          </a:p>
        </p:txBody>
      </p:sp>
      <p:sp>
        <p:nvSpPr>
          <p:cNvPr id="12" name="Text 10"/>
          <p:cNvSpPr/>
          <p:nvPr/>
        </p:nvSpPr>
        <p:spPr>
          <a:xfrm>
            <a:off x="640080" y="4462272"/>
            <a:ext cx="2423160" cy="502920"/>
          </a:xfrm>
          <a:prstGeom prst="roundRect">
            <a:avLst>
              <a:gd name="adj" fmla="val 14545"/>
            </a:avLst>
          </a:prstGeom>
          <a:solidFill>
            <a:srgbClr val="4C1D95"/>
          </a:solidFill>
          <a:ln w="12700">
            <a:solidFill>
              <a:srgbClr val="334155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ru-RU" altLang="en-US" sz="13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vmodem_proc_create()</a:t>
            </a:r>
            <a:endParaRPr lang="ru-RU" sz="1350" dirty="0"/>
          </a:p>
        </p:txBody>
      </p:sp>
      <p:sp>
        <p:nvSpPr>
          <p:cNvPr id="13" name="Text 11"/>
          <p:cNvSpPr/>
          <p:nvPr/>
        </p:nvSpPr>
        <p:spPr>
          <a:xfrm>
            <a:off x="640080" y="5376672"/>
            <a:ext cx="2423160" cy="594360"/>
          </a:xfrm>
          <a:prstGeom prst="roundRect">
            <a:avLst>
              <a:gd name="adj" fmla="val 12308"/>
            </a:avLst>
          </a:prstGeom>
          <a:solidFill>
            <a:srgbClr val="172033"/>
          </a:solidFill>
          <a:ln w="12700">
            <a:solidFill>
              <a:srgbClr val="334155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ru-RU" altLang="en-US" sz="13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module_exit</a:t>
            </a:r>
            <a:endParaRPr lang="ru-RU" sz="1350" dirty="0"/>
          </a:p>
          <a:p>
            <a:pPr marL="0" indent="0" algn="ctr">
              <a:buNone/>
            </a:pPr>
            <a:r>
              <a:rPr lang="ru-RU" altLang="en-US" sz="13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cleanup</a:t>
            </a:r>
            <a:endParaRPr lang="ru-RU" sz="1350" dirty="0"/>
          </a:p>
        </p:txBody>
      </p:sp>
      <p:sp>
        <p:nvSpPr>
          <p:cNvPr id="14" name="Text 12"/>
          <p:cNvSpPr/>
          <p:nvPr/>
        </p:nvSpPr>
        <p:spPr>
          <a:xfrm>
            <a:off x="3840480" y="1600200"/>
            <a:ext cx="3337560" cy="2011680"/>
          </a:xfrm>
          <a:prstGeom prst="roundRect">
            <a:avLst>
              <a:gd name="adj" fmla="val 2273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txBody>
          <a:bodyPr wrap="square" lIns="1905" tIns="1905" rIns="1905" bIns="1905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insmod vmodem.ko modems=3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/dev/vmodem0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/dev/vmodem1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/dev/vmodem2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635240" y="1600200"/>
            <a:ext cx="3611880" cy="2834640"/>
          </a:xfrm>
          <a:prstGeom prst="roundRect">
            <a:avLst>
              <a:gd name="adj" fmla="val 2581"/>
            </a:avLst>
          </a:prstGeom>
          <a:solidFill>
            <a:srgbClr val="101828"/>
          </a:solidFill>
          <a:ln w="12700">
            <a:solidFill>
              <a:srgbClr val="334155"/>
            </a:solidFill>
          </a:ln>
        </p:spPr>
        <p:txBody>
          <a:bodyPr wrap="square" lIns="1778" tIns="1778" rIns="1778" bIns="1778" rtlCol="0" anchor="t">
            <a:normAutofit/>
          </a:bodyPr>
          <a:lstStyle/>
          <a:p>
            <a:pPr marL="0" indent="0" algn="l">
              <a:buNone/>
            </a:pPr>
            <a:r>
              <a:rPr lang="ru-RU" altLang="en-US" sz="16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Регистрация char device</a:t>
            </a:r>
            <a:endParaRPr lang="ru-RU" sz="1600" dirty="0"/>
          </a:p>
          <a:p>
            <a:pPr marL="0" indent="0" algn="l">
              <a:buNone/>
            </a:pPr>
            <a:endParaRPr lang="ru-RU" sz="1600" dirty="0"/>
          </a:p>
          <a:p>
            <a:pPr marL="0" indent="0" algn="l">
              <a:buNone/>
            </a:pPr>
            <a:r>
              <a:rPr lang="ru-RU" altLang="en-US" sz="16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alloc_chrdev_region()</a:t>
            </a:r>
            <a:endParaRPr lang="ru-RU" sz="1600" dirty="0"/>
          </a:p>
          <a:p>
            <a:pPr marL="0" indent="0" algn="l">
              <a:buNone/>
            </a:pPr>
            <a:r>
              <a:rPr lang="ru-RU" altLang="en-US" sz="16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cdev_init()</a:t>
            </a:r>
            <a:endParaRPr lang="ru-RU" sz="1600" dirty="0"/>
          </a:p>
          <a:p>
            <a:pPr marL="0" indent="0" algn="l">
              <a:buNone/>
            </a:pPr>
            <a:r>
              <a:rPr lang="ru-RU" altLang="en-US" sz="16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cdev_add()</a:t>
            </a:r>
            <a:endParaRPr lang="ru-RU" sz="1600" dirty="0"/>
          </a:p>
          <a:p>
            <a:pPr marL="0" indent="0" algn="l">
              <a:buNone/>
            </a:pPr>
            <a:r>
              <a:rPr lang="ru-RU" altLang="en-US" sz="16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class_create()</a:t>
            </a:r>
            <a:endParaRPr lang="ru-RU" sz="1600" dirty="0"/>
          </a:p>
          <a:p>
            <a:pPr marL="0" indent="0" algn="l">
              <a:buNone/>
            </a:pPr>
            <a:r>
              <a:rPr lang="ru-RU" altLang="en-US" sz="16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device_create()</a:t>
            </a:r>
            <a:endParaRPr lang="ru-RU" sz="1600" dirty="0"/>
          </a:p>
        </p:txBody>
      </p:sp>
      <p:sp>
        <p:nvSpPr>
          <p:cNvPr id="16" name="Text 14"/>
          <p:cNvSpPr/>
          <p:nvPr/>
        </p:nvSpPr>
        <p:spPr>
          <a:xfrm>
            <a:off x="3858768" y="429768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Каждый minor‑номер соответствует отдельному vmodem_device с независимым состоянием.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1292840" y="6419088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altLang="en-US" sz="88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FILE_OPERATIONS</a:t>
            </a:r>
            <a:endParaRPr lang="ru-RU" sz="88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ru-RU" altLang="en-US" sz="27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Интерфейс символьного устройства</a:t>
            </a:r>
            <a:endParaRPr lang="ru-RU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334155">
                <a:alpha val="8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58368" y="1417320"/>
            <a:ext cx="4846320" cy="2423160"/>
          </a:xfrm>
          <a:prstGeom prst="roundRect">
            <a:avLst>
              <a:gd name="adj" fmla="val 1887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txBody>
          <a:bodyPr wrap="square" lIns="1905" tIns="1905" rIns="1905" bIns="1905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const struct file_operations vmodem_fops = {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.open           = vmodem_open,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.release        = vmodem_release,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.read           = vmodem_read,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.write          = vmodem_write,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.poll           = vmodem_poll,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.unlocked_ioctl = vmodem_ioctl,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470648" y="1700784"/>
            <a:ext cx="1124712" cy="0"/>
          </a:xfrm>
          <a:prstGeom prst="line">
            <a:avLst/>
          </a:prstGeom>
          <a:noFill/>
          <a:ln w="22860">
            <a:solidFill>
              <a:srgbClr val="38BDF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7470648" y="2395728"/>
            <a:ext cx="1124712" cy="0"/>
          </a:xfrm>
          <a:prstGeom prst="line">
            <a:avLst/>
          </a:prstGeom>
          <a:noFill/>
          <a:ln w="22860">
            <a:solidFill>
              <a:srgbClr val="38BDF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7470648" y="3090672"/>
            <a:ext cx="1124712" cy="0"/>
          </a:xfrm>
          <a:prstGeom prst="line">
            <a:avLst/>
          </a:prstGeom>
          <a:noFill/>
          <a:ln w="22860">
            <a:solidFill>
              <a:srgbClr val="38BDF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7470648" y="3785616"/>
            <a:ext cx="1124712" cy="0"/>
          </a:xfrm>
          <a:prstGeom prst="line">
            <a:avLst/>
          </a:prstGeom>
          <a:noFill/>
          <a:ln w="22860">
            <a:solidFill>
              <a:srgbClr val="38BDF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7470648" y="4480560"/>
            <a:ext cx="1124712" cy="0"/>
          </a:xfrm>
          <a:prstGeom prst="line">
            <a:avLst/>
          </a:prstGeom>
          <a:noFill/>
          <a:ln w="22860">
            <a:solidFill>
              <a:srgbClr val="38BDF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144768" y="1536192"/>
            <a:ext cx="1325880" cy="347472"/>
          </a:xfrm>
          <a:prstGeom prst="roundRect">
            <a:avLst>
              <a:gd name="adj" fmla="val 21053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ru-RU" altLang="en-US" sz="128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open()</a:t>
            </a:r>
            <a:endParaRPr lang="ru-RU" sz="1280" dirty="0"/>
          </a:p>
        </p:txBody>
      </p:sp>
      <p:sp>
        <p:nvSpPr>
          <p:cNvPr id="12" name="Text 10"/>
          <p:cNvSpPr/>
          <p:nvPr/>
        </p:nvSpPr>
        <p:spPr>
          <a:xfrm>
            <a:off x="8732520" y="1536192"/>
            <a:ext cx="2011680" cy="347472"/>
          </a:xfrm>
          <a:prstGeom prst="roundRect">
            <a:avLst>
              <a:gd name="adj" fmla="val 21053"/>
            </a:avLst>
          </a:prstGeom>
          <a:solidFill>
            <a:srgbClr val="172033"/>
          </a:solidFill>
          <a:ln w="12700">
            <a:solidFill>
              <a:srgbClr val="334155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ru-RU" altLang="en-US" sz="128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vmodem_open()</a:t>
            </a:r>
            <a:endParaRPr lang="ru-RU" sz="1280" dirty="0"/>
          </a:p>
        </p:txBody>
      </p:sp>
      <p:sp>
        <p:nvSpPr>
          <p:cNvPr id="13" name="Text 11"/>
          <p:cNvSpPr/>
          <p:nvPr/>
        </p:nvSpPr>
        <p:spPr>
          <a:xfrm>
            <a:off x="6144768" y="2231136"/>
            <a:ext cx="1325880" cy="347472"/>
          </a:xfrm>
          <a:prstGeom prst="roundRect">
            <a:avLst>
              <a:gd name="adj" fmla="val 21053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ru-RU" altLang="en-US" sz="128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write()</a:t>
            </a:r>
            <a:endParaRPr lang="ru-RU" sz="1280" dirty="0"/>
          </a:p>
        </p:txBody>
      </p:sp>
      <p:sp>
        <p:nvSpPr>
          <p:cNvPr id="14" name="Text 12"/>
          <p:cNvSpPr/>
          <p:nvPr/>
        </p:nvSpPr>
        <p:spPr>
          <a:xfrm>
            <a:off x="8732520" y="2231136"/>
            <a:ext cx="2011680" cy="347472"/>
          </a:xfrm>
          <a:prstGeom prst="roundRect">
            <a:avLst>
              <a:gd name="adj" fmla="val 21053"/>
            </a:avLst>
          </a:prstGeom>
          <a:solidFill>
            <a:srgbClr val="172033"/>
          </a:solidFill>
          <a:ln w="12700">
            <a:solidFill>
              <a:srgbClr val="334155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ru-RU" altLang="en-US" sz="128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vmodem_write()</a:t>
            </a:r>
            <a:endParaRPr lang="ru-RU" sz="1280" dirty="0"/>
          </a:p>
        </p:txBody>
      </p:sp>
      <p:sp>
        <p:nvSpPr>
          <p:cNvPr id="15" name="Text 13"/>
          <p:cNvSpPr/>
          <p:nvPr/>
        </p:nvSpPr>
        <p:spPr>
          <a:xfrm>
            <a:off x="6144768" y="2926080"/>
            <a:ext cx="1325880" cy="347472"/>
          </a:xfrm>
          <a:prstGeom prst="roundRect">
            <a:avLst>
              <a:gd name="adj" fmla="val 21053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ru-RU" altLang="en-US" sz="128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read()</a:t>
            </a:r>
            <a:endParaRPr lang="ru-RU" sz="1280" dirty="0"/>
          </a:p>
        </p:txBody>
      </p:sp>
      <p:sp>
        <p:nvSpPr>
          <p:cNvPr id="16" name="Text 14"/>
          <p:cNvSpPr/>
          <p:nvPr/>
        </p:nvSpPr>
        <p:spPr>
          <a:xfrm>
            <a:off x="8732520" y="2926080"/>
            <a:ext cx="2011680" cy="347472"/>
          </a:xfrm>
          <a:prstGeom prst="roundRect">
            <a:avLst>
              <a:gd name="adj" fmla="val 21053"/>
            </a:avLst>
          </a:prstGeom>
          <a:solidFill>
            <a:srgbClr val="172033"/>
          </a:solidFill>
          <a:ln w="12700">
            <a:solidFill>
              <a:srgbClr val="334155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ru-RU" altLang="en-US" sz="128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vmodem_read()</a:t>
            </a:r>
            <a:endParaRPr lang="ru-RU" sz="1280" dirty="0"/>
          </a:p>
        </p:txBody>
      </p:sp>
      <p:sp>
        <p:nvSpPr>
          <p:cNvPr id="17" name="Text 15"/>
          <p:cNvSpPr/>
          <p:nvPr/>
        </p:nvSpPr>
        <p:spPr>
          <a:xfrm>
            <a:off x="6144768" y="3621024"/>
            <a:ext cx="1325880" cy="347472"/>
          </a:xfrm>
          <a:prstGeom prst="roundRect">
            <a:avLst>
              <a:gd name="adj" fmla="val 21053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ru-RU" altLang="en-US" sz="128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poll()</a:t>
            </a:r>
            <a:endParaRPr lang="ru-RU" sz="1280" dirty="0"/>
          </a:p>
        </p:txBody>
      </p:sp>
      <p:sp>
        <p:nvSpPr>
          <p:cNvPr id="18" name="Text 16"/>
          <p:cNvSpPr/>
          <p:nvPr/>
        </p:nvSpPr>
        <p:spPr>
          <a:xfrm>
            <a:off x="8732520" y="3621024"/>
            <a:ext cx="2011680" cy="347472"/>
          </a:xfrm>
          <a:prstGeom prst="roundRect">
            <a:avLst>
              <a:gd name="adj" fmla="val 21053"/>
            </a:avLst>
          </a:prstGeom>
          <a:solidFill>
            <a:srgbClr val="172033"/>
          </a:solidFill>
          <a:ln w="12700">
            <a:solidFill>
              <a:srgbClr val="334155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ru-RU" altLang="en-US" sz="128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vmodem_poll()</a:t>
            </a:r>
            <a:endParaRPr lang="ru-RU" sz="1280" dirty="0"/>
          </a:p>
        </p:txBody>
      </p:sp>
      <p:sp>
        <p:nvSpPr>
          <p:cNvPr id="19" name="Text 17"/>
          <p:cNvSpPr/>
          <p:nvPr/>
        </p:nvSpPr>
        <p:spPr>
          <a:xfrm>
            <a:off x="6144768" y="4315968"/>
            <a:ext cx="1325880" cy="347472"/>
          </a:xfrm>
          <a:prstGeom prst="roundRect">
            <a:avLst>
              <a:gd name="adj" fmla="val 21053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ru-RU" altLang="en-US" sz="128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ioctl()</a:t>
            </a:r>
            <a:endParaRPr lang="ru-RU" sz="1280" dirty="0"/>
          </a:p>
        </p:txBody>
      </p:sp>
      <p:sp>
        <p:nvSpPr>
          <p:cNvPr id="20" name="Text 18"/>
          <p:cNvSpPr/>
          <p:nvPr/>
        </p:nvSpPr>
        <p:spPr>
          <a:xfrm>
            <a:off x="8732520" y="4315968"/>
            <a:ext cx="2011680" cy="347472"/>
          </a:xfrm>
          <a:prstGeom prst="roundRect">
            <a:avLst>
              <a:gd name="adj" fmla="val 21053"/>
            </a:avLst>
          </a:prstGeom>
          <a:solidFill>
            <a:srgbClr val="172033"/>
          </a:solidFill>
          <a:ln w="12700">
            <a:solidFill>
              <a:srgbClr val="334155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ru-RU" altLang="en-US" sz="128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vmodem_ioctl()</a:t>
            </a:r>
            <a:endParaRPr lang="ru-RU" sz="1280" dirty="0"/>
          </a:p>
        </p:txBody>
      </p:sp>
      <p:sp>
        <p:nvSpPr>
          <p:cNvPr id="21" name="Text 19"/>
          <p:cNvSpPr/>
          <p:nvPr/>
        </p:nvSpPr>
        <p:spPr>
          <a:xfrm>
            <a:off x="713232" y="480060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userspace драйвер выглядит как обычный файловый дескриптор. Это позволяет использовать стандартные утилиты и терминальные программы.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1292840" y="6419088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altLang="en-US" sz="88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VMODEM_DEVICE</a:t>
            </a:r>
            <a:endParaRPr lang="ru-RU" sz="88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ru-RU" altLang="en-US" sz="27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Внутреннее состояние одного модема</a:t>
            </a:r>
            <a:endParaRPr lang="ru-RU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334155">
                <a:alpha val="8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13232" y="1463040"/>
            <a:ext cx="2468880" cy="438912"/>
          </a:xfrm>
          <a:prstGeom prst="roundRect">
            <a:avLst>
              <a:gd name="adj" fmla="val 16667"/>
            </a:avLst>
          </a:prstGeom>
          <a:solidFill>
            <a:srgbClr val="38BDF8"/>
          </a:solidFill>
          <a:ln w="12700">
            <a:solidFill>
              <a:srgbClr val="334155">
                <a:alpha val="0"/>
              </a:srgbClr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 algn="ctr">
              <a:buNone/>
            </a:pPr>
            <a:r>
              <a:rPr lang="ru-RU" altLang="en-US" sz="1700" b="1" dirty="0">
                <a:solidFill>
                  <a:srgbClr val="0B1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 vmodem_device</a:t>
            </a:r>
            <a:endParaRPr lang="ru-RU" sz="1700" dirty="0"/>
          </a:p>
        </p:txBody>
      </p:sp>
      <p:sp>
        <p:nvSpPr>
          <p:cNvPr id="6" name="Text 4"/>
          <p:cNvSpPr/>
          <p:nvPr/>
        </p:nvSpPr>
        <p:spPr>
          <a:xfrm>
            <a:off x="777240" y="2057400"/>
            <a:ext cx="2011680" cy="384048"/>
          </a:xfrm>
          <a:prstGeom prst="roundRect">
            <a:avLst>
              <a:gd name="adj" fmla="val 19048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 algn="ctr">
              <a:buNone/>
            </a:pPr>
            <a:r>
              <a:rPr lang="ru-RU" altLang="en-US" sz="14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</a:t>
            </a:r>
            <a:endParaRPr lang="ru-RU" sz="1450" dirty="0"/>
          </a:p>
        </p:txBody>
      </p:sp>
      <p:sp>
        <p:nvSpPr>
          <p:cNvPr id="7" name="Text 5"/>
          <p:cNvSpPr/>
          <p:nvPr/>
        </p:nvSpPr>
        <p:spPr>
          <a:xfrm>
            <a:off x="2999232" y="209397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8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echo, registered, signal, sim_ready, operator, connected, call_state, IMEI, IMSI</a:t>
            </a:r>
            <a:endParaRPr lang="en-US" sz="1380" dirty="0"/>
          </a:p>
        </p:txBody>
      </p:sp>
      <p:sp>
        <p:nvSpPr>
          <p:cNvPr id="8" name="Text 6"/>
          <p:cNvSpPr/>
          <p:nvPr/>
        </p:nvSpPr>
        <p:spPr>
          <a:xfrm>
            <a:off x="777240" y="2770632"/>
            <a:ext cx="2011680" cy="384048"/>
          </a:xfrm>
          <a:prstGeom prst="roundRect">
            <a:avLst>
              <a:gd name="adj" fmla="val 19048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 algn="ctr">
              <a:buNone/>
            </a:pPr>
            <a:r>
              <a:rPr lang="ru-RU" altLang="en-US" sz="14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command[]</a:t>
            </a:r>
            <a:endParaRPr lang="ru-RU" sz="1450" dirty="0"/>
          </a:p>
        </p:txBody>
      </p:sp>
      <p:sp>
        <p:nvSpPr>
          <p:cNvPr id="9" name="Text 7"/>
          <p:cNvSpPr/>
          <p:nvPr/>
        </p:nvSpPr>
        <p:spPr>
          <a:xfrm>
            <a:off x="2999232" y="280720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8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собираемая AT‑команда</a:t>
            </a:r>
            <a:endParaRPr lang="en-US" sz="1380" dirty="0"/>
          </a:p>
        </p:txBody>
      </p:sp>
      <p:sp>
        <p:nvSpPr>
          <p:cNvPr id="10" name="Text 8"/>
          <p:cNvSpPr/>
          <p:nvPr/>
        </p:nvSpPr>
        <p:spPr>
          <a:xfrm>
            <a:off x="777240" y="3483864"/>
            <a:ext cx="2011680" cy="384048"/>
          </a:xfrm>
          <a:prstGeom prst="roundRect">
            <a:avLst>
              <a:gd name="adj" fmla="val 19048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 algn="ctr">
              <a:buNone/>
            </a:pPr>
            <a:r>
              <a:rPr lang="ru-RU" altLang="en-US" sz="14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response[]</a:t>
            </a:r>
            <a:endParaRPr lang="ru-RU" sz="1450" dirty="0"/>
          </a:p>
        </p:txBody>
      </p:sp>
      <p:sp>
        <p:nvSpPr>
          <p:cNvPr id="11" name="Text 9"/>
          <p:cNvSpPr/>
          <p:nvPr/>
        </p:nvSpPr>
        <p:spPr>
          <a:xfrm>
            <a:off x="2999232" y="35204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8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общий выходной поток модема</a:t>
            </a:r>
            <a:endParaRPr lang="en-US" sz="1380" dirty="0"/>
          </a:p>
        </p:txBody>
      </p:sp>
      <p:sp>
        <p:nvSpPr>
          <p:cNvPr id="12" name="Text 10"/>
          <p:cNvSpPr/>
          <p:nvPr/>
        </p:nvSpPr>
        <p:spPr>
          <a:xfrm>
            <a:off x="777240" y="4197096"/>
            <a:ext cx="2011680" cy="384048"/>
          </a:xfrm>
          <a:prstGeom prst="roundRect">
            <a:avLst>
              <a:gd name="adj" fmla="val 19048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 algn="ctr">
              <a:buNone/>
            </a:pPr>
            <a:r>
              <a:rPr lang="ru-RU" altLang="en-US" sz="14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state_lock / io_lock</a:t>
            </a:r>
            <a:endParaRPr lang="ru-RU" sz="1450" dirty="0"/>
          </a:p>
        </p:txBody>
      </p:sp>
      <p:sp>
        <p:nvSpPr>
          <p:cNvPr id="13" name="Text 11"/>
          <p:cNvSpPr/>
          <p:nvPr/>
        </p:nvSpPr>
        <p:spPr>
          <a:xfrm>
            <a:off x="2999232" y="423367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8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синхронизация состояния и I/O</a:t>
            </a:r>
            <a:endParaRPr lang="en-US" sz="1380" dirty="0"/>
          </a:p>
        </p:txBody>
      </p:sp>
      <p:sp>
        <p:nvSpPr>
          <p:cNvPr id="14" name="Text 12"/>
          <p:cNvSpPr/>
          <p:nvPr/>
        </p:nvSpPr>
        <p:spPr>
          <a:xfrm>
            <a:off x="777240" y="4910328"/>
            <a:ext cx="2011680" cy="384048"/>
          </a:xfrm>
          <a:prstGeom prst="roundRect">
            <a:avLst>
              <a:gd name="adj" fmla="val 19048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marL="0" indent="0" algn="ctr">
              <a:buNone/>
            </a:pPr>
            <a:r>
              <a:rPr lang="ru-RU" altLang="en-US" sz="14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response_wait</a:t>
            </a:r>
            <a:endParaRPr lang="ru-RU" sz="1450" dirty="0"/>
          </a:p>
        </p:txBody>
      </p:sp>
      <p:sp>
        <p:nvSpPr>
          <p:cNvPr id="15" name="Text 13"/>
          <p:cNvSpPr/>
          <p:nvPr/>
        </p:nvSpPr>
        <p:spPr>
          <a:xfrm>
            <a:off x="2999232" y="494690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8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ожидание данных для read()/poll()</a:t>
            </a:r>
            <a:endParaRPr lang="en-US" sz="1380" dirty="0"/>
          </a:p>
        </p:txBody>
      </p:sp>
      <p:sp>
        <p:nvSpPr>
          <p:cNvPr id="16" name="Text 14"/>
          <p:cNvSpPr/>
          <p:nvPr/>
        </p:nvSpPr>
        <p:spPr>
          <a:xfrm>
            <a:off x="7360920" y="1508760"/>
            <a:ext cx="3977640" cy="3154680"/>
          </a:xfrm>
          <a:prstGeom prst="roundRect">
            <a:avLst>
              <a:gd name="adj" fmla="val 2319"/>
            </a:avLst>
          </a:prstGeom>
          <a:solidFill>
            <a:srgbClr val="101828"/>
          </a:solidFill>
          <a:ln w="12700">
            <a:solidFill>
              <a:srgbClr val="334155"/>
            </a:solidFill>
          </a:ln>
        </p:spPr>
        <p:txBody>
          <a:bodyPr wrap="square" lIns="1778" tIns="1778" rIns="1778" bIns="1778" rtlCol="0" anchor="t">
            <a:normAutofit/>
          </a:bodyPr>
          <a:lstStyle/>
          <a:p>
            <a:pPr marL="0" indent="0" algn="l">
              <a:buNone/>
            </a:pPr>
            <a:r>
              <a:rPr lang="ru-RU" altLang="en-US" sz="17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Архитектурный принцип</a:t>
            </a:r>
            <a:endParaRPr lang="ru-RU" sz="1700" dirty="0"/>
          </a:p>
          <a:p>
            <a:pPr marL="0" indent="0" algn="l">
              <a:buNone/>
            </a:pPr>
            <a:endParaRPr lang="ru-RU" sz="1700" dirty="0"/>
          </a:p>
          <a:p>
            <a:pPr marL="0" indent="0" algn="l">
              <a:buNone/>
            </a:pPr>
            <a:r>
              <a:rPr lang="ru-RU" altLang="en-US" sz="17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Состояние принадлежит vmodemN, а не открытому file descriptor.</a:t>
            </a:r>
            <a:endParaRPr lang="ru-RU" sz="1700" dirty="0"/>
          </a:p>
          <a:p>
            <a:pPr marL="0" indent="0" algn="l">
              <a:buNone/>
            </a:pPr>
            <a:endParaRPr lang="ru-RU" sz="1700" dirty="0"/>
          </a:p>
          <a:p>
            <a:pPr marL="0" indent="0" algn="l">
              <a:buNone/>
            </a:pPr>
            <a:r>
              <a:rPr lang="ru-RU" altLang="en-US" sz="17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close()/open() не сбрасывает echo, IMSI, сигнал, регистрацию и состояние вызова.</a:t>
            </a:r>
            <a:endParaRPr lang="ru-RU" sz="1700" dirty="0"/>
          </a:p>
        </p:txBody>
      </p:sp>
      <p:sp>
        <p:nvSpPr>
          <p:cNvPr id="17" name="Text 15"/>
          <p:cNvSpPr/>
          <p:nvPr/>
        </p:nvSpPr>
        <p:spPr>
          <a:xfrm>
            <a:off x="7406640" y="4983480"/>
            <a:ext cx="3913632" cy="731520"/>
          </a:xfrm>
          <a:prstGeom prst="roundRect">
            <a:avLst>
              <a:gd name="adj" fmla="val 6250"/>
            </a:avLst>
          </a:prstGeom>
          <a:solidFill>
            <a:srgbClr val="020617"/>
          </a:solidFill>
          <a:ln w="12700">
            <a:solidFill>
              <a:srgbClr val="334155"/>
            </a:solidFill>
          </a:ln>
        </p:spPr>
        <p:txBody>
          <a:bodyPr wrap="square" lIns="1905" tIns="1905" rIns="1905" bIns="1905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→ ATE0 → close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→ AT</a:t>
            </a:r>
            <a:endParaRPr lang="en-US" sz="1350" dirty="0"/>
          </a:p>
          <a:p>
            <a:pPr marL="0" indent="0">
              <a:buNone/>
            </a:pP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остаётся выключенным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1292840" y="6419088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altLang="en-US" sz="88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ПОТОК ДАННЫХ</a:t>
            </a:r>
            <a:endParaRPr lang="ru-RU" sz="88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ru-RU" altLang="en-US" sz="27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проходит AT‑команда</a:t>
            </a:r>
            <a:endParaRPr lang="ru-RU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334155">
                <a:alpha val="8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828800" y="2743200"/>
            <a:ext cx="594360" cy="0"/>
          </a:xfrm>
          <a:prstGeom prst="line">
            <a:avLst/>
          </a:prstGeom>
          <a:noFill/>
          <a:ln w="22860">
            <a:solidFill>
              <a:srgbClr val="38BDF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657600" y="2743200"/>
            <a:ext cx="594360" cy="0"/>
          </a:xfrm>
          <a:prstGeom prst="line">
            <a:avLst/>
          </a:prstGeom>
          <a:noFill/>
          <a:ln w="22860">
            <a:solidFill>
              <a:srgbClr val="38BDF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5486400" y="2743200"/>
            <a:ext cx="685800" cy="0"/>
          </a:xfrm>
          <a:prstGeom prst="line">
            <a:avLst/>
          </a:prstGeom>
          <a:noFill/>
          <a:ln w="22860">
            <a:solidFill>
              <a:srgbClr val="38BDF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7406640" y="2743200"/>
            <a:ext cx="685800" cy="0"/>
          </a:xfrm>
          <a:prstGeom prst="line">
            <a:avLst/>
          </a:prstGeom>
          <a:noFill/>
          <a:ln w="22860">
            <a:solidFill>
              <a:srgbClr val="38BDF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9326880" y="2743200"/>
            <a:ext cx="594360" cy="0"/>
          </a:xfrm>
          <a:prstGeom prst="line">
            <a:avLst/>
          </a:prstGeom>
          <a:noFill/>
          <a:ln w="22860">
            <a:solidFill>
              <a:srgbClr val="38BDF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685800" y="2423160"/>
            <a:ext cx="1325880" cy="685800"/>
          </a:xfrm>
          <a:prstGeom prst="roundRect">
            <a:avLst>
              <a:gd name="adj" fmla="val 10667"/>
            </a:avLst>
          </a:prstGeom>
          <a:solidFill>
            <a:srgbClr val="172033"/>
          </a:solidFill>
          <a:ln w="12700">
            <a:solidFill>
              <a:srgbClr val="334155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ru-RU" altLang="en-US" sz="11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write()</a:t>
            </a:r>
            <a:endParaRPr lang="ru-RU" sz="1150" dirty="0"/>
          </a:p>
          <a:p>
            <a:pPr marL="0" indent="0" algn="ctr">
              <a:buNone/>
            </a:pPr>
            <a:r>
              <a:rPr lang="ru-RU" altLang="en-US" sz="11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userspace</a:t>
            </a:r>
            <a:endParaRPr lang="ru-RU" sz="1150" dirty="0"/>
          </a:p>
        </p:txBody>
      </p:sp>
      <p:sp>
        <p:nvSpPr>
          <p:cNvPr id="11" name="Text 9"/>
          <p:cNvSpPr/>
          <p:nvPr/>
        </p:nvSpPr>
        <p:spPr>
          <a:xfrm>
            <a:off x="2514600" y="2423160"/>
            <a:ext cx="1325880" cy="685800"/>
          </a:xfrm>
          <a:prstGeom prst="roundRect">
            <a:avLst>
              <a:gd name="adj" fmla="val 10667"/>
            </a:avLst>
          </a:prstGeom>
          <a:solidFill>
            <a:srgbClr val="172033"/>
          </a:solidFill>
          <a:ln w="12700">
            <a:solidFill>
              <a:srgbClr val="334155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ru-RU" altLang="en-US" sz="11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copy_from_user()</a:t>
            </a:r>
            <a:endParaRPr lang="ru-RU" sz="1150" dirty="0"/>
          </a:p>
        </p:txBody>
      </p:sp>
      <p:sp>
        <p:nvSpPr>
          <p:cNvPr id="12" name="Text 10"/>
          <p:cNvSpPr/>
          <p:nvPr/>
        </p:nvSpPr>
        <p:spPr>
          <a:xfrm>
            <a:off x="4343400" y="2423160"/>
            <a:ext cx="1325880" cy="685800"/>
          </a:xfrm>
          <a:prstGeom prst="roundRect">
            <a:avLst>
              <a:gd name="adj" fmla="val 10667"/>
            </a:avLst>
          </a:prstGeom>
          <a:solidFill>
            <a:srgbClr val="172033"/>
          </a:solidFill>
          <a:ln w="12700">
            <a:solidFill>
              <a:srgbClr val="334155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ru-RU" altLang="en-US" sz="11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consume_input_byte()</a:t>
            </a:r>
            <a:endParaRPr lang="ru-RU" sz="1150" dirty="0"/>
          </a:p>
        </p:txBody>
      </p:sp>
      <p:sp>
        <p:nvSpPr>
          <p:cNvPr id="13" name="Text 11"/>
          <p:cNvSpPr/>
          <p:nvPr/>
        </p:nvSpPr>
        <p:spPr>
          <a:xfrm>
            <a:off x="6263640" y="2423160"/>
            <a:ext cx="1325880" cy="685800"/>
          </a:xfrm>
          <a:prstGeom prst="roundRect">
            <a:avLst>
              <a:gd name="adj" fmla="val 10667"/>
            </a:avLst>
          </a:prstGeom>
          <a:solidFill>
            <a:srgbClr val="064E3B"/>
          </a:solidFill>
          <a:ln w="12700">
            <a:solidFill>
              <a:srgbClr val="334155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ru-RU" altLang="en-US" sz="11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vmodem_process_command()</a:t>
            </a:r>
            <a:endParaRPr lang="ru-RU" sz="1150" dirty="0"/>
          </a:p>
        </p:txBody>
      </p:sp>
      <p:sp>
        <p:nvSpPr>
          <p:cNvPr id="14" name="Text 12"/>
          <p:cNvSpPr/>
          <p:nvPr/>
        </p:nvSpPr>
        <p:spPr>
          <a:xfrm>
            <a:off x="8183880" y="2423160"/>
            <a:ext cx="1325880" cy="685800"/>
          </a:xfrm>
          <a:prstGeom prst="roundRect">
            <a:avLst>
              <a:gd name="adj" fmla="val 10667"/>
            </a:avLst>
          </a:prstGeom>
          <a:solidFill>
            <a:srgbClr val="172033"/>
          </a:solidFill>
          <a:ln w="12700">
            <a:solidFill>
              <a:srgbClr val="334155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ru-RU" altLang="en-US" sz="11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response[]</a:t>
            </a:r>
            <a:endParaRPr lang="ru-RU" sz="1150" dirty="0"/>
          </a:p>
        </p:txBody>
      </p:sp>
      <p:sp>
        <p:nvSpPr>
          <p:cNvPr id="15" name="Text 13"/>
          <p:cNvSpPr/>
          <p:nvPr/>
        </p:nvSpPr>
        <p:spPr>
          <a:xfrm>
            <a:off x="10012680" y="2423160"/>
            <a:ext cx="1325880" cy="685800"/>
          </a:xfrm>
          <a:prstGeom prst="roundRect">
            <a:avLst>
              <a:gd name="adj" fmla="val 10667"/>
            </a:avLst>
          </a:prstGeom>
          <a:solidFill>
            <a:srgbClr val="172033"/>
          </a:solidFill>
          <a:ln w="12700">
            <a:solidFill>
              <a:srgbClr val="334155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ru-RU" altLang="en-US" sz="11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read()</a:t>
            </a:r>
            <a:endParaRPr lang="ru-RU" sz="1150" dirty="0"/>
          </a:p>
          <a:p>
            <a:pPr marL="0" indent="0" algn="ctr">
              <a:buNone/>
            </a:pPr>
            <a:r>
              <a:rPr lang="ru-RU" altLang="en-US" sz="11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copy_to_user()</a:t>
            </a:r>
            <a:endParaRPr lang="ru-RU" sz="1150" dirty="0"/>
          </a:p>
        </p:txBody>
      </p:sp>
      <p:sp>
        <p:nvSpPr>
          <p:cNvPr id="16" name="Text 14"/>
          <p:cNvSpPr/>
          <p:nvPr/>
        </p:nvSpPr>
        <p:spPr>
          <a:xfrm>
            <a:off x="960120" y="3931920"/>
            <a:ext cx="2834640" cy="114300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txBody>
          <a:bodyPr wrap="square" lIns="1905" tIns="1905" rIns="1905" bIns="1905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write("A")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write("T")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write("+CS")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write("Q\r")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977640" y="4480560"/>
            <a:ext cx="777240" cy="0"/>
          </a:xfrm>
          <a:prstGeom prst="line">
            <a:avLst/>
          </a:prstGeom>
          <a:noFill/>
          <a:ln w="22860">
            <a:solidFill>
              <a:srgbClr val="22C55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4983480" y="3931920"/>
            <a:ext cx="2743200" cy="1143000"/>
          </a:xfrm>
          <a:prstGeom prst="roundRect">
            <a:avLst>
              <a:gd name="adj" fmla="val 4000"/>
            </a:avLst>
          </a:prstGeom>
          <a:solidFill>
            <a:srgbClr val="052E16"/>
          </a:solidFill>
          <a:ln w="12700">
            <a:solidFill>
              <a:srgbClr val="334155"/>
            </a:solidFill>
          </a:ln>
        </p:spPr>
        <p:txBody>
          <a:bodyPr wrap="square" lIns="1905" tIns="1905" rIns="1905" bIns="1905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AT+CSQ\r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+CSQ: 20,99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183880" y="4005072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 write() не обязан совпадать с одной AT‑командой: драйвер моделирует поток COM‑порта и собирает команду до CR.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11292840" y="6419088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altLang="en-US" sz="88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MAKEFILE И KBUILD</a:t>
            </a:r>
            <a:endParaRPr lang="ru-RU" sz="88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ru-RU" altLang="en-US" sz="27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Сборка модуля</a:t>
            </a:r>
            <a:endParaRPr lang="ru-RU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334155">
                <a:alpha val="8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85800" y="1417320"/>
            <a:ext cx="3840480" cy="3017520"/>
          </a:xfrm>
          <a:prstGeom prst="roundRect">
            <a:avLst>
              <a:gd name="adj" fmla="val 1515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txBody>
          <a:bodyPr wrap="square" lIns="1905" tIns="1905" rIns="1905" bIns="1905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obj-m += vmodem.o</a:t>
            </a:r>
            <a:endParaRPr lang="en-US" sz="1220" dirty="0"/>
          </a:p>
          <a:p>
            <a:pPr marL="0" indent="0">
              <a:buNone/>
            </a:pP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vmodem-y := \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src/main.o \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src/device.o \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src/state.o \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src/at.o \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src/ioctl.o \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src/proc.o \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src/sysfs.o</a:t>
            </a:r>
            <a:endParaRPr lang="en-US" sz="1220" dirty="0"/>
          </a:p>
        </p:txBody>
      </p:sp>
      <p:sp>
        <p:nvSpPr>
          <p:cNvPr id="6" name="Text 4"/>
          <p:cNvSpPr/>
          <p:nvPr/>
        </p:nvSpPr>
        <p:spPr>
          <a:xfrm>
            <a:off x="4937760" y="1417320"/>
            <a:ext cx="2743200" cy="1417320"/>
          </a:xfrm>
          <a:prstGeom prst="roundRect">
            <a:avLst>
              <a:gd name="adj" fmla="val 3226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txBody>
          <a:bodyPr wrap="square" lIns="1905" tIns="1905" rIns="1905" bIns="1905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clean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результат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vmodem.ko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0" y="1417320"/>
            <a:ext cx="3383280" cy="1874520"/>
          </a:xfrm>
          <a:prstGeom prst="roundRect">
            <a:avLst>
              <a:gd name="adj" fmla="val 2439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txBody>
          <a:bodyPr wrap="square" lIns="1905" tIns="1905" rIns="1905" bIns="1905" rtlCol="0" anchor="ctr">
            <a:normAutofit/>
          </a:bodyPr>
          <a:lstStyle/>
          <a:p>
            <a:pPr marL="0" indent="0">
              <a:buNone/>
            </a:pPr>
            <a:r>
              <a:rPr lang="en-US" sz="133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insmod vmodem.ko modems=3</a:t>
            </a:r>
            <a:endParaRPr lang="en-US" sz="1330" dirty="0"/>
          </a:p>
          <a:p>
            <a:pPr marL="0" indent="0">
              <a:buNone/>
            </a:pPr>
            <a:r>
              <a:rPr lang="en-US" sz="133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lsmod | grep vmodem</a:t>
            </a:r>
            <a:endParaRPr lang="en-US" sz="1330" dirty="0"/>
          </a:p>
          <a:p>
            <a:pPr marL="0" indent="0">
              <a:buNone/>
            </a:pPr>
            <a:r>
              <a:rPr lang="en-US" sz="133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 -l /dev/vmodem*</a:t>
            </a:r>
            <a:endParaRPr lang="en-US" sz="1330" dirty="0"/>
          </a:p>
          <a:p>
            <a:pPr marL="0" indent="0">
              <a:buNone/>
            </a:pPr>
            <a:endParaRPr lang="en-US" sz="1330" dirty="0"/>
          </a:p>
          <a:p>
            <a:pPr marL="0" indent="0">
              <a:buNone/>
            </a:pPr>
            <a:r>
              <a:rPr lang="en-US" sz="133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rmmod vmodem</a:t>
            </a:r>
            <a:endParaRPr lang="en-US" sz="1330" dirty="0"/>
          </a:p>
        </p:txBody>
      </p:sp>
      <p:sp>
        <p:nvSpPr>
          <p:cNvPr id="8" name="Text 6"/>
          <p:cNvSpPr/>
          <p:nvPr/>
        </p:nvSpPr>
        <p:spPr>
          <a:xfrm>
            <a:off x="4937760" y="3886200"/>
            <a:ext cx="6492240" cy="1097280"/>
          </a:xfrm>
          <a:prstGeom prst="roundRect">
            <a:avLst>
              <a:gd name="adj" fmla="val 6667"/>
            </a:avLst>
          </a:prstGeom>
          <a:solidFill>
            <a:srgbClr val="101828"/>
          </a:solidFill>
          <a:ln w="12700">
            <a:solidFill>
              <a:srgbClr val="334155"/>
            </a:solidFill>
          </a:ln>
        </p:spPr>
        <p:txBody>
          <a:bodyPr wrap="square" lIns="1778" tIns="1778" rIns="1778" bIns="1778" rtlCol="0" anchor="t">
            <a:normAutofit/>
          </a:bodyPr>
          <a:lstStyle/>
          <a:p>
            <a:pPr marL="0" indent="0" algn="l">
              <a:buNone/>
            </a:pPr>
            <a:r>
              <a:rPr lang="ru-RU" altLang="en-US" sz="165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Makefile вызывает стандартную систему сборки внешних модулей ядра:</a:t>
            </a:r>
            <a:endParaRPr lang="ru-RU" sz="1650" dirty="0"/>
          </a:p>
          <a:p>
            <a:pPr marL="0" indent="0" algn="l">
              <a:buNone/>
            </a:pPr>
            <a:endParaRPr lang="ru-RU" sz="1650" dirty="0"/>
          </a:p>
          <a:p>
            <a:pPr marL="0" indent="0" algn="l">
              <a:buNone/>
            </a:pPr>
            <a:r>
              <a:rPr lang="ru-RU" altLang="en-US" sz="165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-C /lib/modules/$(uname -r)/build M=$(PWD) modules</a:t>
            </a:r>
            <a:endParaRPr lang="ru-RU" sz="1650" dirty="0"/>
          </a:p>
        </p:txBody>
      </p:sp>
      <p:sp>
        <p:nvSpPr>
          <p:cNvPr id="9" name="Text 7"/>
          <p:cNvSpPr/>
          <p:nvPr/>
        </p:nvSpPr>
        <p:spPr>
          <a:xfrm>
            <a:off x="11292840" y="6419088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altLang="en-US" sz="88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CHECK.SH</a:t>
            </a:r>
            <a:endParaRPr lang="ru-RU" sz="88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ru-RU" altLang="en-US" sz="27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Автоматическое тестирование</a:t>
            </a:r>
            <a:endParaRPr lang="ru-RU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334155">
                <a:alpha val="8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85800" y="1417320"/>
            <a:ext cx="2423160" cy="1097280"/>
          </a:xfrm>
          <a:prstGeom prst="roundRect">
            <a:avLst>
              <a:gd name="adj" fmla="val 4167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txBody>
          <a:bodyPr wrap="square" lIns="1905" tIns="1905" rIns="1905" bIns="1905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check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или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./check.sh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0" y="132588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72033"/>
          </a:solidFill>
          <a:ln w="12700">
            <a:solidFill>
              <a:srgbClr val="334155"/>
            </a:solidFill>
          </a:ln>
        </p:spPr>
        <p:txBody>
          <a:bodyPr wrap="square" lIns="1778" tIns="1778" rIns="1778" bIns="1778" rtlCol="0" anchor="t">
            <a:normAutofit/>
          </a:bodyPr>
          <a:lstStyle/>
          <a:p>
            <a:pPr marL="0" indent="0" algn="l">
              <a:buNone/>
            </a:pPr>
            <a:r>
              <a:rPr lang="ru-RU" altLang="en-US" sz="135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Устройства</a:t>
            </a:r>
            <a:endParaRPr lang="ru-RU" sz="1350" dirty="0"/>
          </a:p>
          <a:p>
            <a:pPr marL="0" indent="0" algn="l">
              <a:buNone/>
            </a:pPr>
            <a:r>
              <a:rPr lang="ru-RU" altLang="en-US" sz="135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/dev/vmodem0..2 и sysfs‑каталоги</a:t>
            </a:r>
            <a:endParaRPr lang="ru-RU" sz="1350" dirty="0"/>
          </a:p>
        </p:txBody>
      </p:sp>
      <p:sp>
        <p:nvSpPr>
          <p:cNvPr id="7" name="Text 5"/>
          <p:cNvSpPr/>
          <p:nvPr/>
        </p:nvSpPr>
        <p:spPr>
          <a:xfrm>
            <a:off x="7543800" y="132588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01828"/>
          </a:solidFill>
          <a:ln w="12700">
            <a:solidFill>
              <a:srgbClr val="334155"/>
            </a:solidFill>
          </a:ln>
        </p:spPr>
        <p:txBody>
          <a:bodyPr wrap="square" lIns="1778" tIns="1778" rIns="1778" bIns="1778" rtlCol="0" anchor="t">
            <a:normAutofit/>
          </a:bodyPr>
          <a:lstStyle/>
          <a:p>
            <a:pPr marL="0" indent="0" algn="l">
              <a:buNone/>
            </a:pPr>
            <a:r>
              <a:rPr lang="ru-RU" altLang="en-US" sz="135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AT‑поток</a:t>
            </a:r>
            <a:endParaRPr lang="ru-RU" sz="1350" dirty="0"/>
          </a:p>
          <a:p>
            <a:pPr marL="0" indent="0" algn="l">
              <a:buNone/>
            </a:pPr>
            <a:r>
              <a:rPr lang="ru-RU" altLang="en-US" sz="135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AT, частичные write(), echo, Backspace</a:t>
            </a:r>
            <a:endParaRPr lang="ru-RU" sz="1350" dirty="0"/>
          </a:p>
        </p:txBody>
      </p:sp>
      <p:sp>
        <p:nvSpPr>
          <p:cNvPr id="8" name="Text 6"/>
          <p:cNvSpPr/>
          <p:nvPr/>
        </p:nvSpPr>
        <p:spPr>
          <a:xfrm>
            <a:off x="3657600" y="2587752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72033"/>
          </a:solidFill>
          <a:ln w="12700">
            <a:solidFill>
              <a:srgbClr val="334155"/>
            </a:solidFill>
          </a:ln>
        </p:spPr>
        <p:txBody>
          <a:bodyPr wrap="square" lIns="1778" tIns="1778" rIns="1778" bIns="1778" rtlCol="0" anchor="t">
            <a:normAutofit/>
          </a:bodyPr>
          <a:lstStyle/>
          <a:p>
            <a:pPr marL="0" indent="0" algn="l">
              <a:buNone/>
            </a:pPr>
            <a:r>
              <a:rPr lang="ru-RU" altLang="en-US" sz="135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Состояние</a:t>
            </a:r>
            <a:endParaRPr lang="ru-RU" sz="1350" dirty="0"/>
          </a:p>
          <a:p>
            <a:pPr marL="0" indent="0" algn="l">
              <a:buNone/>
            </a:pPr>
            <a:r>
              <a:rPr lang="ru-RU" altLang="en-US" sz="135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sysfs → AT, echo persistence, ATZ</a:t>
            </a:r>
            <a:endParaRPr lang="ru-RU" sz="1350" dirty="0"/>
          </a:p>
        </p:txBody>
      </p:sp>
      <p:sp>
        <p:nvSpPr>
          <p:cNvPr id="9" name="Text 7"/>
          <p:cNvSpPr/>
          <p:nvPr/>
        </p:nvSpPr>
        <p:spPr>
          <a:xfrm>
            <a:off x="7543800" y="2587752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01828"/>
          </a:solidFill>
          <a:ln w="12700">
            <a:solidFill>
              <a:srgbClr val="334155"/>
            </a:solidFill>
          </a:ln>
        </p:spPr>
        <p:txBody>
          <a:bodyPr wrap="square" lIns="1778" tIns="1778" rIns="1778" bIns="1778" rtlCol="0" anchor="t">
            <a:normAutofit/>
          </a:bodyPr>
          <a:lstStyle/>
          <a:p>
            <a:pPr marL="0" indent="0" algn="l">
              <a:buNone/>
            </a:pPr>
            <a:r>
              <a:rPr lang="ru-RU" altLang="en-US" sz="135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ru-RU" sz="1350" dirty="0"/>
          </a:p>
          <a:p>
            <a:pPr marL="0" indent="0" algn="l">
              <a:buNone/>
            </a:pPr>
            <a:r>
              <a:rPr lang="ru-RU" altLang="en-US" sz="135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IMSI, изменение через sysfs, AT+CIMI</a:t>
            </a:r>
            <a:endParaRPr lang="ru-RU" sz="1350" dirty="0"/>
          </a:p>
        </p:txBody>
      </p:sp>
      <p:sp>
        <p:nvSpPr>
          <p:cNvPr id="10" name="Text 8"/>
          <p:cNvSpPr/>
          <p:nvPr/>
        </p:nvSpPr>
        <p:spPr>
          <a:xfrm>
            <a:off x="3657600" y="3849624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72033"/>
          </a:solidFill>
          <a:ln w="12700">
            <a:solidFill>
              <a:srgbClr val="334155"/>
            </a:solidFill>
          </a:ln>
        </p:spPr>
        <p:txBody>
          <a:bodyPr wrap="square" lIns="1778" tIns="1778" rIns="1778" bIns="1778" rtlCol="0" anchor="t">
            <a:normAutofit/>
          </a:bodyPr>
          <a:lstStyle/>
          <a:p>
            <a:pPr marL="0" indent="0" algn="l">
              <a:buNone/>
            </a:pPr>
            <a:r>
              <a:rPr lang="ru-RU" altLang="en-US" sz="135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Вызов</a:t>
            </a:r>
            <a:endParaRPr lang="ru-RU" sz="1350" dirty="0"/>
          </a:p>
          <a:p>
            <a:pPr marL="0" indent="0" algn="l">
              <a:buNone/>
            </a:pPr>
            <a:r>
              <a:rPr lang="ru-RU" altLang="en-US" sz="135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ATD → CONNECT, carrier loss → NO CARRIER</a:t>
            </a:r>
            <a:endParaRPr lang="ru-RU" sz="1350" dirty="0"/>
          </a:p>
        </p:txBody>
      </p:sp>
      <p:sp>
        <p:nvSpPr>
          <p:cNvPr id="11" name="Text 9"/>
          <p:cNvSpPr/>
          <p:nvPr/>
        </p:nvSpPr>
        <p:spPr>
          <a:xfrm>
            <a:off x="7543800" y="3849624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01828"/>
          </a:solidFill>
          <a:ln w="12700">
            <a:solidFill>
              <a:srgbClr val="334155"/>
            </a:solidFill>
          </a:ln>
        </p:spPr>
        <p:txBody>
          <a:bodyPr wrap="square" lIns="1778" tIns="1778" rIns="1778" bIns="1778" rtlCol="0" anchor="t">
            <a:normAutofit/>
          </a:bodyPr>
          <a:lstStyle/>
          <a:p>
            <a:pPr marL="0" indent="0" algn="l">
              <a:buNone/>
            </a:pPr>
            <a:r>
              <a:rPr lang="ru-RU" altLang="en-US" sz="135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/proc</a:t>
            </a:r>
            <a:endParaRPr lang="ru-RU" sz="1350" dirty="0"/>
          </a:p>
          <a:p>
            <a:pPr marL="0" indent="0" algn="l">
              <a:buNone/>
            </a:pPr>
            <a:r>
              <a:rPr lang="ru-RU" altLang="en-US" sz="135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сводка состояния всех vmodemN</a:t>
            </a:r>
            <a:endParaRPr lang="ru-RU" sz="1350" dirty="0"/>
          </a:p>
        </p:txBody>
      </p:sp>
      <p:sp>
        <p:nvSpPr>
          <p:cNvPr id="12" name="Text 10"/>
          <p:cNvSpPr/>
          <p:nvPr/>
        </p:nvSpPr>
        <p:spPr>
          <a:xfrm>
            <a:off x="914400" y="557784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check.sh проверяет не только загрузку модуля, но и семантику виртуального COM‑порта и модели модема.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292840" y="6419088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altLang="en-US" sz="88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</a:t>
            </a:r>
            <a:endParaRPr lang="ru-RU" sz="88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ru-RU" altLang="en-US" sz="27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Использование драйвера: три интерфейса</a:t>
            </a:r>
            <a:endParaRPr lang="ru-RU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334155">
                <a:alpha val="8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2331720" y="2743200"/>
            <a:ext cx="1828800" cy="0"/>
          </a:xfrm>
          <a:prstGeom prst="line">
            <a:avLst/>
          </a:prstGeom>
          <a:noFill/>
          <a:ln w="22860">
            <a:solidFill>
              <a:srgbClr val="38BDF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001000" y="2743200"/>
            <a:ext cx="1645920" cy="0"/>
          </a:xfrm>
          <a:prstGeom prst="line">
            <a:avLst/>
          </a:prstGeom>
          <a:noFill/>
          <a:ln w="22860">
            <a:solidFill>
              <a:srgbClr val="22C55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6080760" y="3273552"/>
            <a:ext cx="0" cy="749808"/>
          </a:xfrm>
          <a:prstGeom prst="line">
            <a:avLst/>
          </a:prstGeom>
          <a:noFill/>
          <a:ln w="22860">
            <a:solidFill>
              <a:srgbClr val="FBBF2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77240" y="2148840"/>
            <a:ext cx="1920240" cy="1005840"/>
          </a:xfrm>
          <a:prstGeom prst="roundRect">
            <a:avLst>
              <a:gd name="adj" fmla="val 7273"/>
            </a:avLst>
          </a:prstGeom>
          <a:solidFill>
            <a:srgbClr val="0C4A6E"/>
          </a:solidFill>
          <a:ln w="12700">
            <a:solidFill>
              <a:srgbClr val="334155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ru-RU" alt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/dev/vmodem0</a:t>
            </a:r>
            <a:endParaRPr lang="ru-RU" sz="1400" dirty="0"/>
          </a:p>
          <a:p>
            <a:pPr marL="0" indent="0" algn="ctr">
              <a:buNone/>
            </a:pPr>
            <a:r>
              <a:rPr lang="ru-RU" alt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AT‑команды клиента</a:t>
            </a:r>
            <a:endParaRPr lang="ru-RU" sz="1400" dirty="0"/>
          </a:p>
        </p:txBody>
      </p:sp>
      <p:sp>
        <p:nvSpPr>
          <p:cNvPr id="9" name="Text 7"/>
          <p:cNvSpPr/>
          <p:nvPr/>
        </p:nvSpPr>
        <p:spPr>
          <a:xfrm>
            <a:off x="4800600" y="2148840"/>
            <a:ext cx="1920240" cy="1005840"/>
          </a:xfrm>
          <a:prstGeom prst="roundRect">
            <a:avLst>
              <a:gd name="adj" fmla="val 7273"/>
            </a:avLst>
          </a:prstGeom>
          <a:solidFill>
            <a:srgbClr val="172033"/>
          </a:solidFill>
          <a:ln w="12700">
            <a:solidFill>
              <a:srgbClr val="334155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ru-RU" alt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драйвер</a:t>
            </a:r>
            <a:endParaRPr lang="ru-RU" sz="1400" dirty="0"/>
          </a:p>
          <a:p>
            <a:pPr marL="0" indent="0" algn="ctr">
              <a:buNone/>
            </a:pPr>
            <a:r>
              <a:rPr lang="ru-RU" alt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vmodem.ko</a:t>
            </a:r>
            <a:endParaRPr lang="ru-RU" sz="1400" dirty="0"/>
          </a:p>
        </p:txBody>
      </p:sp>
      <p:sp>
        <p:nvSpPr>
          <p:cNvPr id="10" name="Text 8"/>
          <p:cNvSpPr/>
          <p:nvPr/>
        </p:nvSpPr>
        <p:spPr>
          <a:xfrm>
            <a:off x="9372600" y="2148840"/>
            <a:ext cx="2057400" cy="1005840"/>
          </a:xfrm>
          <a:prstGeom prst="roundRect">
            <a:avLst>
              <a:gd name="adj" fmla="val 7273"/>
            </a:avLst>
          </a:prstGeom>
          <a:solidFill>
            <a:srgbClr val="064E3B"/>
          </a:solidFill>
          <a:ln w="12700">
            <a:solidFill>
              <a:srgbClr val="334155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ru-RU" altLang="en-US" sz="127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/sys/class/vmodem/vmodem0</a:t>
            </a:r>
            <a:endParaRPr lang="ru-RU" sz="1270" dirty="0"/>
          </a:p>
          <a:p>
            <a:pPr marL="0" indent="0" algn="ctr">
              <a:buNone/>
            </a:pPr>
            <a:r>
              <a:rPr lang="ru-RU" altLang="en-US" sz="127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состояние и управление</a:t>
            </a:r>
            <a:endParaRPr lang="ru-RU" sz="1270" dirty="0"/>
          </a:p>
        </p:txBody>
      </p:sp>
      <p:sp>
        <p:nvSpPr>
          <p:cNvPr id="11" name="Text 9"/>
          <p:cNvSpPr/>
          <p:nvPr/>
        </p:nvSpPr>
        <p:spPr>
          <a:xfrm>
            <a:off x="4617720" y="4251960"/>
            <a:ext cx="2423160" cy="749808"/>
          </a:xfrm>
          <a:prstGeom prst="roundRect">
            <a:avLst>
              <a:gd name="adj" fmla="val 9756"/>
            </a:avLst>
          </a:prstGeom>
          <a:solidFill>
            <a:srgbClr val="4C1D95"/>
          </a:solidFill>
          <a:ln w="12700">
            <a:solidFill>
              <a:srgbClr val="334155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ru-RU" altLang="en-US" sz="128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/proc/vmodem</a:t>
            </a:r>
            <a:endParaRPr lang="ru-RU" sz="1280" dirty="0"/>
          </a:p>
          <a:p>
            <a:pPr marL="0" indent="0" algn="ctr">
              <a:buNone/>
            </a:pPr>
            <a:r>
              <a:rPr lang="ru-RU" altLang="en-US" sz="128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диагностика всех устройств</a:t>
            </a:r>
            <a:endParaRPr lang="ru-RU" sz="1280" dirty="0"/>
          </a:p>
        </p:txBody>
      </p:sp>
      <p:sp>
        <p:nvSpPr>
          <p:cNvPr id="12" name="Text 10"/>
          <p:cNvSpPr/>
          <p:nvPr/>
        </p:nvSpPr>
        <p:spPr>
          <a:xfrm>
            <a:off x="822960" y="3977640"/>
            <a:ext cx="1828800" cy="960120"/>
          </a:xfrm>
          <a:prstGeom prst="roundRect">
            <a:avLst>
              <a:gd name="adj" fmla="val 4762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txBody>
          <a:bodyPr wrap="square" lIns="1905" tIns="1905" rIns="1905" bIns="1905" rtlCol="0" anchor="ctr">
            <a:normAutofit/>
          </a:bodyPr>
          <a:lstStyle/>
          <a:p>
            <a:pPr marL="0" indent="0">
              <a:buNone/>
            </a:pPr>
            <a:r>
              <a:rPr lang="en-US" sz="136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AT+CSQ</a:t>
            </a:r>
            <a:endParaRPr lang="en-US" sz="1360" dirty="0"/>
          </a:p>
          <a:p>
            <a:pPr marL="0" indent="0">
              <a:buNone/>
            </a:pPr>
            <a:r>
              <a:rPr lang="en-US" sz="136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AT+CIMI</a:t>
            </a:r>
            <a:endParaRPr lang="en-US" sz="1360" dirty="0"/>
          </a:p>
          <a:p>
            <a:pPr marL="0" indent="0">
              <a:buNone/>
            </a:pPr>
            <a:r>
              <a:rPr lang="en-US" sz="136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ATD123;</a:t>
            </a:r>
            <a:endParaRPr lang="en-US" sz="1360" dirty="0"/>
          </a:p>
        </p:txBody>
      </p:sp>
      <p:sp>
        <p:nvSpPr>
          <p:cNvPr id="13" name="Text 11"/>
          <p:cNvSpPr/>
          <p:nvPr/>
        </p:nvSpPr>
        <p:spPr>
          <a:xfrm>
            <a:off x="9528048" y="3749040"/>
            <a:ext cx="1691640" cy="1389888"/>
          </a:xfrm>
          <a:prstGeom prst="roundRect">
            <a:avLst>
              <a:gd name="adj" fmla="val 3289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txBody>
          <a:bodyPr wrap="square" lIns="1905" tIns="1905" rIns="1905" bIns="1905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signal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sim_ready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imsi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call_state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connected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dial_number</a:t>
            </a:r>
            <a:endParaRPr lang="en-US" sz="1220" dirty="0"/>
          </a:p>
        </p:txBody>
      </p:sp>
      <p:sp>
        <p:nvSpPr>
          <p:cNvPr id="14" name="Text 12"/>
          <p:cNvSpPr/>
          <p:nvPr/>
        </p:nvSpPr>
        <p:spPr>
          <a:xfrm>
            <a:off x="868680" y="562356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AT‑команды через /dev работают с тем же состоянием, которое отображается в sysfs.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292840" y="6419088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altLang="en-US" sz="88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IMEI / IMSI / CPIN</a:t>
            </a:r>
            <a:endParaRPr lang="ru-RU" sz="88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ru-RU" altLang="en-US" sz="27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Демонстрация: модем и виртуальная SIM</a:t>
            </a:r>
            <a:endParaRPr lang="ru-RU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334155">
                <a:alpha val="8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13232" y="1417320"/>
            <a:ext cx="3429000" cy="1874520"/>
          </a:xfrm>
          <a:prstGeom prst="roundRect">
            <a:avLst>
              <a:gd name="adj" fmla="val 2439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txBody>
          <a:bodyPr wrap="square" lIns="1905" tIns="1905" rIns="1905" bIns="1905" rtlCol="0" anchor="ctr">
            <a:normAutofit/>
          </a:bodyPr>
          <a:lstStyle/>
          <a:p>
            <a:pPr marL="0" indent="0">
              <a:buNone/>
            </a:pPr>
            <a:r>
              <a:rPr lang="en-US" sz="127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AT+CGSN</a:t>
            </a:r>
            <a:endParaRPr lang="en-US" sz="1270" dirty="0"/>
          </a:p>
          <a:p>
            <a:pPr marL="0" indent="0">
              <a:buNone/>
            </a:pPr>
            <a:r>
              <a:rPr lang="en-US" sz="127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356789012340000</a:t>
            </a:r>
            <a:endParaRPr lang="en-US" sz="1270" dirty="0"/>
          </a:p>
          <a:p>
            <a:pPr marL="0" indent="0">
              <a:buNone/>
            </a:pPr>
            <a:endParaRPr lang="en-US" sz="1270" dirty="0"/>
          </a:p>
          <a:p>
            <a:pPr marL="0" indent="0">
              <a:buNone/>
            </a:pPr>
            <a:r>
              <a:rPr lang="en-US" sz="127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 /sys/class/vmodem/vmodem0/imei</a:t>
            </a:r>
            <a:endParaRPr lang="en-US" sz="1270" dirty="0"/>
          </a:p>
          <a:p>
            <a:pPr marL="0" indent="0">
              <a:buNone/>
            </a:pPr>
            <a:r>
              <a:rPr lang="en-US" sz="127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356789012340000</a:t>
            </a:r>
            <a:endParaRPr lang="en-US" sz="1270" dirty="0"/>
          </a:p>
        </p:txBody>
      </p:sp>
      <p:sp>
        <p:nvSpPr>
          <p:cNvPr id="6" name="Text 4"/>
          <p:cNvSpPr/>
          <p:nvPr/>
        </p:nvSpPr>
        <p:spPr>
          <a:xfrm>
            <a:off x="4389120" y="1417320"/>
            <a:ext cx="3429000" cy="1874520"/>
          </a:xfrm>
          <a:prstGeom prst="roundRect">
            <a:avLst>
              <a:gd name="adj" fmla="val 2439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txBody>
          <a:bodyPr wrap="square" lIns="1905" tIns="1905" rIns="1905" bIns="1905" rtlCol="0" anchor="ctr">
            <a:normAutofit/>
          </a:bodyPr>
          <a:lstStyle/>
          <a:p>
            <a:pPr marL="0" indent="0">
              <a:buNone/>
            </a:pPr>
            <a:r>
              <a:rPr lang="en-US" sz="127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AT+CIMI</a:t>
            </a:r>
            <a:endParaRPr lang="en-US" sz="1270" dirty="0"/>
          </a:p>
          <a:p>
            <a:pPr marL="0" indent="0">
              <a:buNone/>
            </a:pPr>
            <a:r>
              <a:rPr lang="en-US" sz="127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250011234560000</a:t>
            </a:r>
            <a:endParaRPr lang="en-US" sz="1270" dirty="0"/>
          </a:p>
          <a:p>
            <a:pPr marL="0" indent="0">
              <a:buNone/>
            </a:pPr>
            <a:endParaRPr lang="en-US" sz="1270" dirty="0"/>
          </a:p>
          <a:p>
            <a:pPr marL="0" indent="0">
              <a:buNone/>
            </a:pPr>
            <a:r>
              <a:rPr lang="en-US" sz="127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 /sys/class/vmodem/vmodem0/imsi</a:t>
            </a:r>
            <a:endParaRPr lang="en-US" sz="1270" dirty="0"/>
          </a:p>
          <a:p>
            <a:pPr marL="0" indent="0">
              <a:buNone/>
            </a:pPr>
            <a:r>
              <a:rPr lang="en-US" sz="127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250011234560000</a:t>
            </a:r>
            <a:endParaRPr lang="en-US" sz="1270" dirty="0"/>
          </a:p>
        </p:txBody>
      </p:sp>
      <p:sp>
        <p:nvSpPr>
          <p:cNvPr id="7" name="Text 5"/>
          <p:cNvSpPr/>
          <p:nvPr/>
        </p:nvSpPr>
        <p:spPr>
          <a:xfrm>
            <a:off x="8092440" y="1417320"/>
            <a:ext cx="3383280" cy="2514600"/>
          </a:xfrm>
          <a:prstGeom prst="roundRect">
            <a:avLst>
              <a:gd name="adj" fmla="val 1818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txBody>
          <a:bodyPr wrap="square" lIns="1905" tIns="1905" rIns="1905" bIns="1905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AT+CPIN?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+CPIN: READY</a:t>
            </a:r>
            <a:endParaRPr lang="en-US" sz="1220" dirty="0"/>
          </a:p>
          <a:p>
            <a:pPr marL="0" indent="0">
              <a:buNone/>
            </a:pP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0 | sudo tee .../sim_ready</a:t>
            </a:r>
            <a:endParaRPr lang="en-US" sz="1220" dirty="0"/>
          </a:p>
          <a:p>
            <a:pPr marL="0" indent="0">
              <a:buNone/>
            </a:pP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AT+CPIN?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+CPIN: SIM PIN</a:t>
            </a:r>
            <a:endParaRPr lang="en-US" sz="1220" dirty="0"/>
          </a:p>
        </p:txBody>
      </p:sp>
      <p:sp>
        <p:nvSpPr>
          <p:cNvPr id="8" name="Text 6"/>
          <p:cNvSpPr/>
          <p:nvPr/>
        </p:nvSpPr>
        <p:spPr>
          <a:xfrm>
            <a:off x="914400" y="4251960"/>
            <a:ext cx="10287000" cy="1143000"/>
          </a:xfrm>
          <a:prstGeom prst="roundRect">
            <a:avLst>
              <a:gd name="adj" fmla="val 6400"/>
            </a:avLst>
          </a:prstGeom>
          <a:solidFill>
            <a:srgbClr val="101828"/>
          </a:solidFill>
          <a:ln w="12700">
            <a:solidFill>
              <a:srgbClr val="334155"/>
            </a:solidFill>
          </a:ln>
        </p:spPr>
        <p:txBody>
          <a:bodyPr wrap="square" lIns="1778" tIns="1778" rIns="1778" bIns="1778" rtlCol="0" anchor="t">
            <a:normAutofit/>
          </a:bodyPr>
          <a:lstStyle/>
          <a:p>
            <a:pPr marL="0" indent="0" algn="l">
              <a:buNone/>
            </a:pPr>
            <a:r>
              <a:rPr lang="ru-RU" altLang="en-US" sz="17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Связь параметров</a:t>
            </a:r>
            <a:endParaRPr lang="ru-RU" sz="1700" dirty="0"/>
          </a:p>
          <a:p>
            <a:pPr marL="0" indent="0" algn="l">
              <a:buNone/>
            </a:pPr>
            <a:endParaRPr lang="ru-RU" sz="1700" dirty="0"/>
          </a:p>
          <a:p>
            <a:pPr marL="0" indent="0" algn="l">
              <a:buNone/>
            </a:pPr>
            <a:r>
              <a:rPr lang="ru-RU" altLang="en-US" sz="17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IMEI — идентификатор модема.</a:t>
            </a:r>
            <a:endParaRPr lang="ru-RU" sz="1700" dirty="0"/>
          </a:p>
          <a:p>
            <a:pPr marL="0" indent="0" algn="l">
              <a:buNone/>
            </a:pPr>
            <a:r>
              <a:rPr lang="ru-RU" altLang="en-US" sz="17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IMSI — идентификатор SIM‑карты.</a:t>
            </a:r>
            <a:endParaRPr lang="ru-RU" sz="1700" dirty="0"/>
          </a:p>
          <a:p>
            <a:pPr marL="0" indent="0" algn="l">
              <a:buNone/>
            </a:pPr>
            <a:r>
              <a:rPr lang="ru-RU" altLang="en-US" sz="17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sim_ready — состояние SIM, влияющее на ответы AT+CPIN? и возможность соединения.</a:t>
            </a:r>
            <a:endParaRPr lang="ru-RU" sz="1700" dirty="0"/>
          </a:p>
        </p:txBody>
      </p:sp>
      <p:sp>
        <p:nvSpPr>
          <p:cNvPr id="9" name="Text 7"/>
          <p:cNvSpPr/>
          <p:nvPr/>
        </p:nvSpPr>
        <p:spPr>
          <a:xfrm>
            <a:off x="11292840" y="6419088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altLang="en-US" sz="88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CREG / COPS / CSQ</a:t>
            </a:r>
            <a:endParaRPr lang="ru-RU" sz="88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ru-RU" altLang="en-US" sz="27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Демонстрация: сеть и параметры среды</a:t>
            </a:r>
            <a:endParaRPr lang="ru-RU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334155">
                <a:alpha val="8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77240" y="1417320"/>
            <a:ext cx="1737360" cy="310896"/>
          </a:xfrm>
          <a:prstGeom prst="roundRect">
            <a:avLst>
              <a:gd name="adj" fmla="val 23529"/>
            </a:avLst>
          </a:prstGeom>
          <a:solidFill>
            <a:srgbClr val="38BDF8"/>
          </a:solidFill>
          <a:ln>
            <a:solidFill>
              <a:srgbClr val="38BDF8">
                <a:alpha val="0"/>
              </a:srgbClr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ru-RU" altLang="en-US" sz="1000" b="1" dirty="0">
                <a:solidFill>
                  <a:srgbClr val="0B1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Регистрация</a:t>
            </a:r>
            <a:endParaRPr lang="ru-RU" sz="1000" dirty="0"/>
          </a:p>
        </p:txBody>
      </p:sp>
      <p:sp>
        <p:nvSpPr>
          <p:cNvPr id="6" name="Text 4"/>
          <p:cNvSpPr/>
          <p:nvPr/>
        </p:nvSpPr>
        <p:spPr>
          <a:xfrm>
            <a:off x="777240" y="1901952"/>
            <a:ext cx="3182112" cy="2103120"/>
          </a:xfrm>
          <a:prstGeom prst="roundRect">
            <a:avLst>
              <a:gd name="adj" fmla="val 2174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txBody>
          <a:bodyPr wrap="square" lIns="1905" tIns="1905" rIns="1905" bIns="1905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AT+CREG?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+CREG: 0,1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/sys/.../registered → 1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0" y="1417320"/>
            <a:ext cx="1737360" cy="310896"/>
          </a:xfrm>
          <a:prstGeom prst="roundRect">
            <a:avLst>
              <a:gd name="adj" fmla="val 23529"/>
            </a:avLst>
          </a:prstGeom>
          <a:solidFill>
            <a:srgbClr val="A78BFA"/>
          </a:solidFill>
          <a:ln>
            <a:solidFill>
              <a:srgbClr val="A78BFA">
                <a:alpha val="0"/>
              </a:srgbClr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ru-RU" altLang="en-US" sz="1000" b="1" dirty="0">
                <a:solidFill>
                  <a:srgbClr val="0B1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Оператор</a:t>
            </a:r>
            <a:endParaRPr lang="ru-RU" sz="1000" dirty="0"/>
          </a:p>
        </p:txBody>
      </p:sp>
      <p:sp>
        <p:nvSpPr>
          <p:cNvPr id="8" name="Text 6"/>
          <p:cNvSpPr/>
          <p:nvPr/>
        </p:nvSpPr>
        <p:spPr>
          <a:xfrm>
            <a:off x="4572000" y="1901952"/>
            <a:ext cx="3182112" cy="2103120"/>
          </a:xfrm>
          <a:prstGeom prst="roundRect">
            <a:avLst>
              <a:gd name="adj" fmla="val 2174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txBody>
          <a:bodyPr wrap="square" lIns="1905" tIns="1905" rIns="1905" bIns="1905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AT+COPS?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+COPS: 0,0,"VMODEM"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/sys/.../operator → VMODEM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366760" y="1417320"/>
            <a:ext cx="1737360" cy="310896"/>
          </a:xfrm>
          <a:prstGeom prst="roundRect">
            <a:avLst>
              <a:gd name="adj" fmla="val 23529"/>
            </a:avLst>
          </a:prstGeom>
          <a:solidFill>
            <a:srgbClr val="22C55E"/>
          </a:solidFill>
          <a:ln>
            <a:solidFill>
              <a:srgbClr val="22C55E">
                <a:alpha val="0"/>
              </a:srgbClr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ru-RU" altLang="en-US" sz="1000" b="1" dirty="0">
                <a:solidFill>
                  <a:srgbClr val="0B1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Уровень сигнала</a:t>
            </a:r>
            <a:endParaRPr lang="ru-RU" sz="1000" dirty="0"/>
          </a:p>
        </p:txBody>
      </p:sp>
      <p:sp>
        <p:nvSpPr>
          <p:cNvPr id="10" name="Text 8"/>
          <p:cNvSpPr/>
          <p:nvPr/>
        </p:nvSpPr>
        <p:spPr>
          <a:xfrm>
            <a:off x="8366760" y="1901952"/>
            <a:ext cx="3182112" cy="2103120"/>
          </a:xfrm>
          <a:prstGeom prst="roundRect">
            <a:avLst>
              <a:gd name="adj" fmla="val 2174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txBody>
          <a:bodyPr wrap="square" lIns="1905" tIns="1905" rIns="1905" bIns="1905" rtlCol="0" anchor="ctr">
            <a:normAutofit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AT+CSQ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+CSQ: 20,99</a:t>
            </a:r>
            <a:endParaRPr lang="en-US" sz="1180" dirty="0"/>
          </a:p>
          <a:p>
            <a:pPr marL="0" indent="0">
              <a:buNone/>
            </a:pP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7 &gt; .../signal</a:t>
            </a:r>
            <a:endParaRPr lang="en-US" sz="1180" dirty="0"/>
          </a:p>
          <a:p>
            <a:pPr marL="0" indent="0">
              <a:buNone/>
            </a:pPr>
            <a:r>
              <a:rPr lang="en-US" sz="11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AT+CSQ → +CSQ: 7,99</a:t>
            </a:r>
            <a:endParaRPr lang="en-US" sz="1180" dirty="0"/>
          </a:p>
        </p:txBody>
      </p:sp>
      <p:sp>
        <p:nvSpPr>
          <p:cNvPr id="11" name="Text 9"/>
          <p:cNvSpPr/>
          <p:nvPr/>
        </p:nvSpPr>
        <p:spPr>
          <a:xfrm>
            <a:off x="1051560" y="498348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sysfs моделирует внешнюю среду модема; AT‑интерфейс показывает, как эту среду видит клиентская программа.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292840" y="6419088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altLang="en-US" sz="88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ATD / CLCC / ATH</a:t>
            </a:r>
            <a:endParaRPr lang="ru-RU" sz="88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ru-RU" altLang="en-US" sz="27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Демонстрация: прохождение вызова</a:t>
            </a:r>
            <a:endParaRPr lang="ru-RU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334155">
                <a:alpha val="8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2743200" y="2743200"/>
            <a:ext cx="1508760" cy="0"/>
          </a:xfrm>
          <a:prstGeom prst="line">
            <a:avLst/>
          </a:prstGeom>
          <a:noFill/>
          <a:ln w="22860">
            <a:solidFill>
              <a:srgbClr val="22C55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6766560" y="2743200"/>
            <a:ext cx="1417320" cy="0"/>
          </a:xfrm>
          <a:prstGeom prst="line">
            <a:avLst/>
          </a:prstGeom>
          <a:noFill/>
          <a:ln w="22860">
            <a:solidFill>
              <a:srgbClr val="22C55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22960" y="2148840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172033"/>
          </a:solidFill>
          <a:ln w="12700">
            <a:solidFill>
              <a:srgbClr val="334155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ru-RU" alt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вызова</a:t>
            </a:r>
            <a:endParaRPr lang="ru-RU" sz="1300" dirty="0"/>
          </a:p>
          <a:p>
            <a:pPr marL="0" indent="0" algn="ctr">
              <a:buNone/>
            </a:pPr>
            <a:r>
              <a:rPr lang="ru-RU" alt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call_state=idle</a:t>
            </a:r>
            <a:endParaRPr lang="ru-RU" sz="1300" dirty="0"/>
          </a:p>
          <a:p>
            <a:pPr marL="0" indent="0" algn="ctr">
              <a:buNone/>
            </a:pPr>
            <a:r>
              <a:rPr lang="ru-RU" alt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connected=0</a:t>
            </a:r>
            <a:endParaRPr lang="ru-RU" sz="1300" dirty="0"/>
          </a:p>
        </p:txBody>
      </p:sp>
      <p:sp>
        <p:nvSpPr>
          <p:cNvPr id="8" name="Text 6"/>
          <p:cNvSpPr/>
          <p:nvPr/>
        </p:nvSpPr>
        <p:spPr>
          <a:xfrm>
            <a:off x="4251960" y="2148840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064E3B"/>
          </a:solidFill>
          <a:ln w="12700">
            <a:solidFill>
              <a:srgbClr val="334155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ru-RU" alt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ATD123456789;</a:t>
            </a:r>
            <a:endParaRPr lang="ru-RU" sz="1300" dirty="0"/>
          </a:p>
          <a:p>
            <a:pPr marL="0" indent="0" algn="ctr">
              <a:buNone/>
            </a:pPr>
            <a:r>
              <a:rPr lang="ru-RU" altLang="en-US" sz="13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CONNECT</a:t>
            </a:r>
            <a:endParaRPr lang="ru-RU" sz="1300" dirty="0"/>
          </a:p>
        </p:txBody>
      </p:sp>
      <p:sp>
        <p:nvSpPr>
          <p:cNvPr id="9" name="Text 7"/>
          <p:cNvSpPr/>
          <p:nvPr/>
        </p:nvSpPr>
        <p:spPr>
          <a:xfrm>
            <a:off x="8183880" y="1993392"/>
            <a:ext cx="2286000" cy="1463040"/>
          </a:xfrm>
          <a:prstGeom prst="roundRect">
            <a:avLst>
              <a:gd name="adj" fmla="val 5000"/>
            </a:avLst>
          </a:prstGeom>
          <a:solidFill>
            <a:srgbClr val="0C4A6E"/>
          </a:solidFill>
          <a:ln w="12700">
            <a:solidFill>
              <a:srgbClr val="334155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ru-RU" altLang="en-US" sz="122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 вызова</a:t>
            </a:r>
            <a:endParaRPr lang="ru-RU" sz="1220" dirty="0"/>
          </a:p>
          <a:p>
            <a:pPr marL="0" indent="0" algn="ctr">
              <a:buNone/>
            </a:pPr>
            <a:r>
              <a:rPr lang="ru-RU" altLang="en-US" sz="122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call_state=active</a:t>
            </a:r>
            <a:endParaRPr lang="ru-RU" sz="1220" dirty="0"/>
          </a:p>
          <a:p>
            <a:pPr marL="0" indent="0" algn="ctr">
              <a:buNone/>
            </a:pPr>
            <a:r>
              <a:rPr lang="ru-RU" altLang="en-US" sz="122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connected=1</a:t>
            </a:r>
            <a:endParaRPr lang="ru-RU" sz="1220" dirty="0"/>
          </a:p>
          <a:p>
            <a:pPr marL="0" indent="0" algn="ctr">
              <a:buNone/>
            </a:pPr>
            <a:r>
              <a:rPr lang="ru-RU" altLang="en-US" sz="122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dial_number=123456789</a:t>
            </a:r>
            <a:endParaRPr lang="ru-RU" sz="1220" dirty="0"/>
          </a:p>
        </p:txBody>
      </p:sp>
      <p:sp>
        <p:nvSpPr>
          <p:cNvPr id="10" name="Text 8"/>
          <p:cNvSpPr/>
          <p:nvPr/>
        </p:nvSpPr>
        <p:spPr>
          <a:xfrm>
            <a:off x="868680" y="3977640"/>
            <a:ext cx="2926080" cy="960120"/>
          </a:xfrm>
          <a:prstGeom prst="roundRect">
            <a:avLst>
              <a:gd name="adj" fmla="val 4762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txBody>
          <a:bodyPr wrap="square" lIns="1905" tIns="1905" rIns="1905" bIns="1905" rtlCol="0" anchor="ctr">
            <a:normAutofit/>
          </a:bodyPr>
          <a:lstStyle/>
          <a:p>
            <a:pPr marL="0" indent="0">
              <a:buNone/>
            </a:pPr>
            <a:r>
              <a:rPr lang="en-US" sz="12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 .../call_state</a:t>
            </a:r>
            <a:endParaRPr lang="en-US" sz="1280" dirty="0"/>
          </a:p>
          <a:p>
            <a:pPr marL="0" indent="0">
              <a:buNone/>
            </a:pPr>
            <a:r>
              <a:rPr lang="en-US" sz="12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 .../connected</a:t>
            </a:r>
            <a:endParaRPr lang="en-US" sz="1280" dirty="0"/>
          </a:p>
          <a:p>
            <a:pPr marL="0" indent="0">
              <a:buNone/>
            </a:pPr>
            <a:r>
              <a:rPr lang="en-US" sz="128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 .../dial_number</a:t>
            </a:r>
            <a:endParaRPr lang="en-US" sz="1280" dirty="0"/>
          </a:p>
        </p:txBody>
      </p:sp>
      <p:sp>
        <p:nvSpPr>
          <p:cNvPr id="11" name="Text 9"/>
          <p:cNvSpPr/>
          <p:nvPr/>
        </p:nvSpPr>
        <p:spPr>
          <a:xfrm>
            <a:off x="4343400" y="3703320"/>
            <a:ext cx="3246120" cy="1508760"/>
          </a:xfrm>
          <a:prstGeom prst="roundRect">
            <a:avLst>
              <a:gd name="adj" fmla="val 303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txBody>
          <a:bodyPr wrap="square" lIns="1905" tIns="1905" rIns="1905" bIns="1905" rtlCol="0" anchor="ctr">
            <a:normAutofit/>
          </a:bodyPr>
          <a:lstStyle/>
          <a:p>
            <a:pPr marL="0" indent="0">
              <a:buNone/>
            </a:pPr>
            <a:r>
              <a:rPr lang="en-US" sz="123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AT+CLCC</a:t>
            </a:r>
            <a:endParaRPr lang="en-US" sz="1230" dirty="0"/>
          </a:p>
          <a:p>
            <a:pPr marL="0" indent="0">
              <a:buNone/>
            </a:pPr>
            <a:r>
              <a:rPr lang="en-US" sz="123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информация о текущем вызове</a:t>
            </a:r>
            <a:endParaRPr lang="en-US" sz="1230" dirty="0"/>
          </a:p>
          <a:p>
            <a:pPr marL="0" indent="0">
              <a:buNone/>
            </a:pPr>
            <a:endParaRPr lang="en-US" sz="1230" dirty="0"/>
          </a:p>
          <a:p>
            <a:pPr marL="0" indent="0">
              <a:buNone/>
            </a:pPr>
            <a:r>
              <a:rPr lang="en-US" sz="123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ATH</a:t>
            </a:r>
            <a:endParaRPr lang="en-US" sz="1230" dirty="0"/>
          </a:p>
          <a:p>
            <a:pPr marL="0" indent="0">
              <a:buNone/>
            </a:pPr>
            <a:r>
              <a:rPr lang="en-US" sz="123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OK</a:t>
            </a:r>
            <a:endParaRPr lang="en-US" sz="1230" dirty="0"/>
          </a:p>
          <a:p>
            <a:pPr marL="0" indent="0">
              <a:buNone/>
            </a:pPr>
            <a:r>
              <a:rPr lang="en-US" sz="123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call_state=idle, connected=0</a:t>
            </a:r>
            <a:endParaRPr lang="en-US" sz="1230" dirty="0"/>
          </a:p>
        </p:txBody>
      </p:sp>
      <p:sp>
        <p:nvSpPr>
          <p:cNvPr id="12" name="Text 10"/>
          <p:cNvSpPr/>
          <p:nvPr/>
        </p:nvSpPr>
        <p:spPr>
          <a:xfrm>
            <a:off x="8183880" y="3977640"/>
            <a:ext cx="2971800" cy="960120"/>
          </a:xfrm>
          <a:prstGeom prst="roundRect">
            <a:avLst>
              <a:gd name="adj" fmla="val 4762"/>
            </a:avLst>
          </a:prstGeom>
          <a:solidFill>
            <a:srgbClr val="2A0C0C"/>
          </a:solidFill>
          <a:ln w="12700">
            <a:solidFill>
              <a:srgbClr val="334155"/>
            </a:solidFill>
          </a:ln>
        </p:spPr>
        <p:txBody>
          <a:bodyPr wrap="square" lIns="1905" tIns="1905" rIns="1905" bIns="1905" rtlCol="0" anchor="ctr">
            <a:normAutofit/>
          </a:bodyPr>
          <a:lstStyle/>
          <a:p>
            <a:pPr marL="0" indent="0">
              <a:buNone/>
            </a:pPr>
            <a:r>
              <a:rPr lang="en-US" sz="126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0 | sudo tee .../connected</a:t>
            </a:r>
            <a:endParaRPr lang="en-US" sz="1260" dirty="0"/>
          </a:p>
          <a:p>
            <a:pPr marL="0" indent="0">
              <a:buNone/>
            </a:pPr>
            <a:endParaRPr lang="en-US" sz="1260" dirty="0"/>
          </a:p>
          <a:p>
            <a:pPr marL="0" indent="0">
              <a:buNone/>
            </a:pPr>
            <a:r>
              <a:rPr lang="en-US" sz="126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NO CARRIER</a:t>
            </a:r>
            <a:endParaRPr lang="en-US" sz="1260" dirty="0"/>
          </a:p>
        </p:txBody>
      </p:sp>
      <p:sp>
        <p:nvSpPr>
          <p:cNvPr id="13" name="Text 11"/>
          <p:cNvSpPr/>
          <p:nvPr/>
        </p:nvSpPr>
        <p:spPr>
          <a:xfrm>
            <a:off x="11292840" y="6419088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СЦЕНАРИЙ ДЕМОНСТРАЦИИ</a:t>
            </a: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t>Последовательность работы с виртуальным модемом</a:t>
            </a:r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64240" cy="0"/>
          </a:xfrm>
          <a:prstGeom prst="line">
            <a:avLst/>
          </a:prstGeom>
          <a:noFill/>
          <a:ln w="12700">
            <a:solidFill>
              <a:srgbClr val="334155">
                <a:alpha val="8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822960" y="1298448"/>
            <a:ext cx="393192" cy="310896"/>
          </a:xfrm>
          <a:prstGeom prst="roundRect">
            <a:avLst>
              <a:gd name="adj" fmla="val 23529"/>
            </a:avLst>
          </a:prstGeom>
          <a:solidFill>
            <a:srgbClr val="38BDF8"/>
          </a:solidFill>
          <a:ln>
            <a:solidFill>
              <a:srgbClr val="38BDF8">
                <a:alpha val="0"/>
              </a:srgbClr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ru-RU" altLang="en-US" sz="1000" b="1" dirty="0">
                <a:solidFill>
                  <a:srgbClr val="0B1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ru-RU" sz="1000" dirty="0"/>
          </a:p>
        </p:txBody>
      </p:sp>
      <p:sp>
        <p:nvSpPr>
          <p:cNvPr id="6" name="Text 4"/>
          <p:cNvSpPr/>
          <p:nvPr/>
        </p:nvSpPr>
        <p:spPr>
          <a:xfrm>
            <a:off x="1417320" y="1344168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Старт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3429000" y="134416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→ insmod → /dev/vmodem0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22960" y="1984248"/>
            <a:ext cx="393192" cy="310896"/>
          </a:xfrm>
          <a:prstGeom prst="roundRect">
            <a:avLst>
              <a:gd name="adj" fmla="val 23529"/>
            </a:avLst>
          </a:prstGeom>
          <a:solidFill>
            <a:srgbClr val="38BDF8"/>
          </a:solidFill>
          <a:ln>
            <a:solidFill>
              <a:srgbClr val="38BDF8">
                <a:alpha val="0"/>
              </a:srgbClr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ru-RU" altLang="en-US" sz="1000" b="1" dirty="0">
                <a:solidFill>
                  <a:srgbClr val="0B1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ru-RU" sz="1000" dirty="0"/>
          </a:p>
        </p:txBody>
      </p:sp>
      <p:sp>
        <p:nvSpPr>
          <p:cNvPr id="9" name="Text 7"/>
          <p:cNvSpPr/>
          <p:nvPr/>
        </p:nvSpPr>
        <p:spPr>
          <a:xfrm>
            <a:off x="1417320" y="2029968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Идентификация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3429000" y="202996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AT, ATI, AT+CGSN, AT+CIMI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822960" y="2670048"/>
            <a:ext cx="393192" cy="310896"/>
          </a:xfrm>
          <a:prstGeom prst="roundRect">
            <a:avLst>
              <a:gd name="adj" fmla="val 23529"/>
            </a:avLst>
          </a:prstGeom>
          <a:solidFill>
            <a:srgbClr val="22C55E"/>
          </a:solidFill>
          <a:ln>
            <a:solidFill>
              <a:srgbClr val="22C55E">
                <a:alpha val="0"/>
              </a:srgbClr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ru-RU" altLang="en-US" sz="1000" b="1" dirty="0">
                <a:solidFill>
                  <a:srgbClr val="0B1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ru-RU" sz="1000" dirty="0"/>
          </a:p>
        </p:txBody>
      </p:sp>
      <p:sp>
        <p:nvSpPr>
          <p:cNvPr id="12" name="Text 10"/>
          <p:cNvSpPr/>
          <p:nvPr/>
        </p:nvSpPr>
        <p:spPr>
          <a:xfrm>
            <a:off x="1417320" y="2715768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3429000" y="271576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AT+CPIN? ↔ sysfs/sim_ready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22960" y="3355848"/>
            <a:ext cx="393192" cy="310896"/>
          </a:xfrm>
          <a:prstGeom prst="roundRect">
            <a:avLst>
              <a:gd name="adj" fmla="val 23529"/>
            </a:avLst>
          </a:prstGeom>
          <a:solidFill>
            <a:srgbClr val="22C55E"/>
          </a:solidFill>
          <a:ln>
            <a:solidFill>
              <a:srgbClr val="22C55E">
                <a:alpha val="0"/>
              </a:srgbClr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ru-RU" altLang="en-US" sz="1000" b="1" dirty="0">
                <a:solidFill>
                  <a:srgbClr val="0B1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ru-RU" sz="1000" dirty="0"/>
          </a:p>
        </p:txBody>
      </p:sp>
      <p:sp>
        <p:nvSpPr>
          <p:cNvPr id="15" name="Text 13"/>
          <p:cNvSpPr/>
          <p:nvPr/>
        </p:nvSpPr>
        <p:spPr>
          <a:xfrm>
            <a:off x="1417320" y="3401568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Сеть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3429000" y="340156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CREG, COPS, CSQ ↔ registered/operator/signal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22960" y="4041648"/>
            <a:ext cx="393192" cy="310896"/>
          </a:xfrm>
          <a:prstGeom prst="roundRect">
            <a:avLst>
              <a:gd name="adj" fmla="val 23529"/>
            </a:avLst>
          </a:prstGeom>
          <a:solidFill>
            <a:srgbClr val="FBBF24"/>
          </a:solidFill>
          <a:ln>
            <a:solidFill>
              <a:srgbClr val="FBBF24">
                <a:alpha val="0"/>
              </a:srgbClr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ru-RU" altLang="en-US" sz="1000" b="1" dirty="0">
                <a:solidFill>
                  <a:srgbClr val="0B1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ru-RU" sz="1000" dirty="0"/>
          </a:p>
        </p:txBody>
      </p:sp>
      <p:sp>
        <p:nvSpPr>
          <p:cNvPr id="18" name="Text 16"/>
          <p:cNvSpPr/>
          <p:nvPr/>
        </p:nvSpPr>
        <p:spPr>
          <a:xfrm>
            <a:off x="1417320" y="4087368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Вызов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3429000" y="408736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ATD → CONNECT ↔ call_state/connected/dial_number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22960" y="4727448"/>
            <a:ext cx="393192" cy="310896"/>
          </a:xfrm>
          <a:prstGeom prst="roundRect">
            <a:avLst>
              <a:gd name="adj" fmla="val 23529"/>
            </a:avLst>
          </a:prstGeom>
          <a:solidFill>
            <a:srgbClr val="F87171"/>
          </a:solidFill>
          <a:ln>
            <a:solidFill>
              <a:srgbClr val="F87171">
                <a:alpha val="0"/>
              </a:srgbClr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ru-RU" altLang="en-US" sz="1000" b="1" dirty="0">
                <a:solidFill>
                  <a:srgbClr val="0B1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ru-RU" sz="1000" dirty="0"/>
          </a:p>
        </p:txBody>
      </p:sp>
      <p:sp>
        <p:nvSpPr>
          <p:cNvPr id="21" name="Text 19"/>
          <p:cNvSpPr/>
          <p:nvPr/>
        </p:nvSpPr>
        <p:spPr>
          <a:xfrm>
            <a:off x="1417320" y="4773168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Завершение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3429000" y="477316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AT+CLCC, ATH или внешняя потеря carrier → NO CARRIER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868680" y="5486400"/>
            <a:ext cx="10561320" cy="777240"/>
          </a:xfrm>
          <a:prstGeom prst="roundRect">
            <a:avLst>
              <a:gd name="adj" fmla="val 9412"/>
            </a:avLst>
          </a:prstGeom>
          <a:solidFill>
            <a:srgbClr val="101828"/>
          </a:solidFill>
          <a:ln w="12700">
            <a:solidFill>
              <a:srgbClr val="334155"/>
            </a:solidFill>
          </a:ln>
        </p:spPr>
        <p:txBody>
          <a:bodyPr wrap="square" lIns="1778" tIns="1778" rIns="1778" bIns="1778" rtlCol="0" anchor="t">
            <a:normAutofit/>
          </a:bodyPr>
          <a:lstStyle/>
          <a:p>
            <a:r>
              <a:t>Итоговая модель</a:t>
            </a:r>
          </a:p>
          <a:p>
            <a:endParaRPr/>
          </a:p>
          <a:p>
            <a:r>
              <a:t>Виртуальный GSM‑модем работает как символьное устройство Linux: AT‑команды передаются через /dev/vmodemN, а sysfs отображает и позволяет изменять параметры модема, SIM‑карты, сети и вызова.</a:t>
            </a:r>
          </a:p>
        </p:txBody>
      </p:sp>
      <p:sp>
        <p:nvSpPr>
          <p:cNvPr id="24" name="Text 22"/>
          <p:cNvSpPr/>
          <p:nvPr/>
        </p:nvSpPr>
        <p:spPr>
          <a:xfrm>
            <a:off x="11292840" y="6419088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1454</Words>
  <Application>Microsoft Office PowerPoint</Application>
  <PresentationFormat>Широкоэкранный</PresentationFormat>
  <Paragraphs>331</Paragraphs>
  <Slides>15</Slides>
  <Notes>15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19" baseType="lpstr">
      <vt:lpstr>Arial</vt:lpstr>
      <vt:lpstr>Calibri</vt:lpstr>
      <vt:lpstr>Courier New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Виртуальный GSM-модем: символьный драйвер Linux</dc:title>
  <dc:subject>Учебный проект символьного драйвера Linux — виртуальный модем</dc:subject>
  <dc:creator>OpenAI</dc:creator>
  <cp:lastModifiedBy>Chuprov Dmitriy</cp:lastModifiedBy>
  <cp:revision>1</cp:revision>
  <dcterms:created xsi:type="dcterms:W3CDTF">2026-09-23T16:32:01Z</dcterms:created>
  <dcterms:modified xsi:type="dcterms:W3CDTF">2026-09-23T16:39:46Z</dcterms:modified>
</cp:coreProperties>
</file>