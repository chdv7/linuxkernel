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5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с постановки задачи: драйвер имитирует COM-порт с GSM-модемом и позволяет через AT-команды демонстрировать модем, SIM-карту, сеть и вызов.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Виртуальный GSM‑модем</a:t>
            </a:r>
            <a:endParaRPr lang="ru-RU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1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Символьный драйвер Linux: структура, сборка, тестирование и демонстрация</a:t>
            </a:r>
            <a:endParaRPr lang="ru-RU" sz="1900" dirty="0"/>
          </a:p>
        </p:txBody>
      </p:sp>
      <p:sp>
        <p:nvSpPr>
          <p:cNvPr id="4" name="Text 2"/>
          <p:cNvSpPr/>
          <p:nvPr/>
        </p:nvSpPr>
        <p:spPr>
          <a:xfrm>
            <a:off x="7479792" y="2798064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>
            <a:solidFill>
              <a:srgbClr val="38BDF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/dev/vmodem0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340156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AT+CGSN  →  IMEI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AT+CIMI  →  IMSI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ATD123;  →  CONNECT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418320" y="3191256"/>
            <a:ext cx="0" cy="192024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5961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DRV / LinuxKernel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ПЛАН ПРЕЗЕНТАЦИИ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Структура презентации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49961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ТЕХНИКА</a:t>
            </a:r>
            <a:endParaRPr lang="ru-RU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907792" cy="2331720"/>
          </a:xfrm>
          <a:prstGeom prst="roundRect">
            <a:avLst>
              <a:gd name="adj" fmla="val 3137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Структура драйвера</a:t>
            </a:r>
            <a:endParaRPr lang="ru-RU" sz="1570" dirty="0"/>
          </a:p>
          <a:p>
            <a:pPr marL="0" indent="0" algn="l">
              <a:buNone/>
            </a:pPr>
            <a:endParaRPr lang="ru-RU" sz="1570" dirty="0"/>
          </a:p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проекта, регистрация char device, file_operations, состояние vmodem_device.</a:t>
            </a:r>
            <a:endParaRPr lang="ru-RU" sz="1570" dirty="0"/>
          </a:p>
        </p:txBody>
      </p:sp>
      <p:sp>
        <p:nvSpPr>
          <p:cNvPr id="7" name="Text 5"/>
          <p:cNvSpPr/>
          <p:nvPr/>
        </p:nvSpPr>
        <p:spPr>
          <a:xfrm>
            <a:off x="4160520" y="149961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4160520" y="1920240"/>
            <a:ext cx="2907792" cy="2331720"/>
          </a:xfrm>
          <a:prstGeom prst="roundRect">
            <a:avLst>
              <a:gd name="adj" fmla="val 3137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Сборка и тестирование</a:t>
            </a:r>
            <a:endParaRPr lang="ru-RU" sz="1570" dirty="0"/>
          </a:p>
          <a:p>
            <a:pPr marL="0" indent="0" algn="l">
              <a:buNone/>
            </a:pPr>
            <a:endParaRPr lang="ru-RU" sz="1570" dirty="0"/>
          </a:p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Kbuild, Makefile, vmodem.ko, загрузка модуля, автоматический check.sh.</a:t>
            </a:r>
            <a:endParaRPr lang="ru-RU" sz="1570" dirty="0"/>
          </a:p>
        </p:txBody>
      </p:sp>
      <p:sp>
        <p:nvSpPr>
          <p:cNvPr id="9" name="Text 7"/>
          <p:cNvSpPr/>
          <p:nvPr/>
        </p:nvSpPr>
        <p:spPr>
          <a:xfrm>
            <a:off x="7589520" y="149961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ru-RU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920240"/>
            <a:ext cx="2907792" cy="2331720"/>
          </a:xfrm>
          <a:prstGeom prst="roundRect">
            <a:avLst>
              <a:gd name="adj" fmla="val 3137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Использование и демонстрация</a:t>
            </a:r>
            <a:endParaRPr lang="ru-RU" sz="1570" dirty="0"/>
          </a:p>
          <a:p>
            <a:pPr marL="0" indent="0" algn="l">
              <a:buNone/>
            </a:pPr>
            <a:endParaRPr lang="ru-RU" sz="1570" dirty="0"/>
          </a:p>
          <a:p>
            <a:pPr marL="0" indent="0" algn="l">
              <a:buNone/>
            </a:pPr>
            <a:r>
              <a:rPr lang="ru-RU" altLang="en-US" sz="15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AT-команды, IMEI/IMSI, SIM, прохождение вызова и отражение в sysfs.</a:t>
            </a:r>
            <a:endParaRPr lang="ru-RU" sz="1570" dirty="0"/>
          </a:p>
        </p:txBody>
      </p:sp>
      <p:sp>
        <p:nvSpPr>
          <p:cNvPr id="11" name="Text 9"/>
          <p:cNvSpPr/>
          <p:nvPr/>
        </p:nvSpPr>
        <p:spPr>
          <a:xfrm>
            <a:off x="749808" y="4983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интерфейсов: /dev/vmodem0 — AT‑команды клиента, sysfs — состояние эмулятора.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проекта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423160" y="2743200"/>
            <a:ext cx="1271016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74920" y="2743200"/>
            <a:ext cx="1298448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092440" y="2743200"/>
            <a:ext cx="128016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Пользовательская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/ minicom</a:t>
            </a:r>
            <a:endParaRPr lang="ru-RU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1488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/dev/vmodemN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COM‑подобный порт</a:t>
            </a:r>
            <a:endParaRPr lang="ru-RU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vmodem.ko</a:t>
            </a:r>
            <a:endParaRPr lang="ru-RU" sz="1400" dirty="0"/>
          </a:p>
        </p:txBody>
      </p:sp>
      <p:sp>
        <p:nvSpPr>
          <p:cNvPr id="11" name="Text 9"/>
          <p:cNvSpPr/>
          <p:nvPr/>
        </p:nvSpPr>
        <p:spPr>
          <a:xfrm>
            <a:off x="9372600" y="2148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4C1D9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модем + SIM + сеть</a:t>
            </a:r>
            <a:endParaRPr lang="ru-RU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ru-RU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ядра создаёт от 1 до 16 устройств /dev/</a:t>
            </a:r>
            <a:r>
              <a:rPr lang="ru-RU" altLang="en-US" sz="17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vmodemN</a:t>
            </a:r>
            <a:r>
              <a:rPr lang="en-US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ru-RU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имитирующих работу </a:t>
            </a:r>
            <a:r>
              <a:rPr lang="en-US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/ LTE </a:t>
            </a:r>
            <a:r>
              <a:rPr lang="ru-RU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модемов.</a:t>
            </a:r>
            <a:endParaRPr lang="ru-RU" sz="1700" dirty="0"/>
          </a:p>
          <a:p>
            <a:r>
              <a:rPr lang="ru-RU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write() передаются AT‑команды, через read() возвращаются ответы.</a:t>
            </a:r>
            <a:endParaRPr lang="ru-RU" sz="1700" dirty="0"/>
          </a:p>
          <a:p>
            <a:r>
              <a:rPr lang="ru-RU" alt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sysfs можно наблюдать и менять состояние эмулируемого оборудования.</a:t>
            </a:r>
            <a:endParaRPr lang="ru-RU" sz="1700" dirty="0"/>
          </a:p>
        </p:txBody>
      </p:sp>
      <p:sp>
        <p:nvSpPr>
          <p:cNvPr id="13" name="Text 11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ИСХОДНИКИ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 DRV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2971800" cy="438912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DRV/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Kbuild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Makefile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check.sh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device.c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state.c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at.c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ioctl.c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proc.c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sysfs.c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vmodem.h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3977640" y="14630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34155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5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Linux‑инфраструктура</a:t>
            </a:r>
            <a:endParaRPr lang="ru-RU" sz="1550" dirty="0"/>
          </a:p>
        </p:txBody>
      </p:sp>
      <p:sp>
        <p:nvSpPr>
          <p:cNvPr id="7" name="Text 5"/>
          <p:cNvSpPr/>
          <p:nvPr/>
        </p:nvSpPr>
        <p:spPr>
          <a:xfrm>
            <a:off x="3977640" y="2066544"/>
            <a:ext cx="205740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vmodem.h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модуля, cdev, /dev/vmodemN, file_operations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4630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334155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5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модема</a:t>
            </a:r>
            <a:endParaRPr lang="ru-RU" sz="1550" dirty="0"/>
          </a:p>
        </p:txBody>
      </p:sp>
      <p:sp>
        <p:nvSpPr>
          <p:cNvPr id="10" name="Text 8"/>
          <p:cNvSpPr/>
          <p:nvPr/>
        </p:nvSpPr>
        <p:spPr>
          <a:xfrm>
            <a:off x="6446520" y="2066544"/>
            <a:ext cx="205740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at.c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состояние, AT‑команды, IMEI, IMSI, SIM, звонки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15400" y="14630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334155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5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Интерфейсы контроля</a:t>
            </a:r>
            <a:endParaRPr lang="ru-RU" sz="1550" dirty="0"/>
          </a:p>
        </p:txBody>
      </p:sp>
      <p:sp>
        <p:nvSpPr>
          <p:cNvPr id="13" name="Text 11"/>
          <p:cNvSpPr/>
          <p:nvPr/>
        </p:nvSpPr>
        <p:spPr>
          <a:xfrm>
            <a:off x="8915400" y="2066544"/>
            <a:ext cx="205740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sysfs.c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proc.c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ioctl.c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1540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/sys, /proc/vmodem, ioctl GET_STATE / RESET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LIFECYCLE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модуля и регистрация устройств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47088" y="2212848"/>
            <a:ext cx="0" cy="420624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47088" y="3127248"/>
            <a:ext cx="0" cy="420624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847088" y="4041648"/>
            <a:ext cx="0" cy="420624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847088" y="4956048"/>
            <a:ext cx="0" cy="420624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module_init</a:t>
            </a:r>
            <a:endParaRPr lang="ru-RU" sz="1350" dirty="0"/>
          </a:p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vmodem_init()</a:t>
            </a:r>
            <a:endParaRPr lang="ru-RU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vmodem_devices_create()</a:t>
            </a:r>
            <a:endParaRPr lang="ru-RU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/dev/vmodemN</a:t>
            </a:r>
            <a:endParaRPr lang="ru-RU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462272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4C1D9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vmodem_proc_create()</a:t>
            </a:r>
            <a:endParaRPr lang="ru-RU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76672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module_exit</a:t>
            </a:r>
            <a:endParaRPr lang="ru-RU" sz="1350" dirty="0"/>
          </a:p>
          <a:p>
            <a:pPr marL="0" indent="0" algn="ctr">
              <a:buNone/>
            </a:pPr>
            <a:r>
              <a:rPr lang="ru-RU" alt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ru-RU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insmod vmodem.ko modems=3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/dev/vmodem0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/dev/vmodem1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/dev/vmodem2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16002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char device</a:t>
            </a:r>
            <a:endParaRPr lang="ru-RU" sz="1600" dirty="0"/>
          </a:p>
          <a:p>
            <a:pPr marL="0" indent="0" algn="l">
              <a:buNone/>
            </a:pPr>
            <a:endParaRPr lang="ru-RU" sz="1600" dirty="0"/>
          </a:p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alloc_chrdev_region()</a:t>
            </a:r>
            <a:endParaRPr lang="ru-RU" sz="1600" dirty="0"/>
          </a:p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cdev_init()</a:t>
            </a:r>
            <a:endParaRPr lang="ru-RU" sz="1600" dirty="0"/>
          </a:p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cdev_add()</a:t>
            </a:r>
            <a:endParaRPr lang="ru-RU" sz="1600" dirty="0"/>
          </a:p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class_create()</a:t>
            </a:r>
            <a:endParaRPr lang="ru-RU" sz="1600" dirty="0"/>
          </a:p>
          <a:p>
            <a:pPr marL="0" indent="0" algn="l">
              <a:buNone/>
            </a:pPr>
            <a:r>
              <a:rPr lang="ru-RU" alt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device_create()</a:t>
            </a:r>
            <a:endParaRPr lang="ru-RU" sz="1600" dirty="0"/>
          </a:p>
        </p:txBody>
      </p:sp>
      <p:sp>
        <p:nvSpPr>
          <p:cNvPr id="16" name="Text 14"/>
          <p:cNvSpPr/>
          <p:nvPr/>
        </p:nvSpPr>
        <p:spPr>
          <a:xfrm>
            <a:off x="3858768" y="4297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minor‑номер соответствует отдельному vmodem_device с независимым состоянием.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FILE_OPERATIONS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символьного устройства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4846320" cy="2423160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struct file_operations vmodem_fops =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.open           = vmodem_open,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.release        = vmodem_release,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.read           = vmodem_read,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.write          = vmodem_write,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.poll           = vmodem_poll,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.unlocked_ioctl = vmodem_ioctl,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70648" y="1700784"/>
            <a:ext cx="1124712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70648" y="2395728"/>
            <a:ext cx="1124712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70648" y="3090672"/>
            <a:ext cx="1124712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70648" y="3785616"/>
            <a:ext cx="1124712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70648" y="4480560"/>
            <a:ext cx="1124712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44768" y="153619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</a:t>
            </a:r>
            <a:endParaRPr lang="ru-RU" sz="1280" dirty="0"/>
          </a:p>
        </p:txBody>
      </p:sp>
      <p:sp>
        <p:nvSpPr>
          <p:cNvPr id="12" name="Text 10"/>
          <p:cNvSpPr/>
          <p:nvPr/>
        </p:nvSpPr>
        <p:spPr>
          <a:xfrm>
            <a:off x="8732520" y="15361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vmodem_open()</a:t>
            </a:r>
            <a:endParaRPr lang="ru-RU" sz="1280" dirty="0"/>
          </a:p>
        </p:txBody>
      </p:sp>
      <p:sp>
        <p:nvSpPr>
          <p:cNvPr id="13" name="Text 11"/>
          <p:cNvSpPr/>
          <p:nvPr/>
        </p:nvSpPr>
        <p:spPr>
          <a:xfrm>
            <a:off x="6144768" y="2231136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write()</a:t>
            </a:r>
            <a:endParaRPr lang="ru-RU" sz="1280" dirty="0"/>
          </a:p>
        </p:txBody>
      </p:sp>
      <p:sp>
        <p:nvSpPr>
          <p:cNvPr id="14" name="Text 12"/>
          <p:cNvSpPr/>
          <p:nvPr/>
        </p:nvSpPr>
        <p:spPr>
          <a:xfrm>
            <a:off x="8732520" y="2231136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vmodem_write()</a:t>
            </a:r>
            <a:endParaRPr lang="ru-RU" sz="1280" dirty="0"/>
          </a:p>
        </p:txBody>
      </p:sp>
      <p:sp>
        <p:nvSpPr>
          <p:cNvPr id="15" name="Text 13"/>
          <p:cNvSpPr/>
          <p:nvPr/>
        </p:nvSpPr>
        <p:spPr>
          <a:xfrm>
            <a:off x="6144768" y="29260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read()</a:t>
            </a:r>
            <a:endParaRPr lang="ru-RU" sz="1280" dirty="0"/>
          </a:p>
        </p:txBody>
      </p:sp>
      <p:sp>
        <p:nvSpPr>
          <p:cNvPr id="16" name="Text 14"/>
          <p:cNvSpPr/>
          <p:nvPr/>
        </p:nvSpPr>
        <p:spPr>
          <a:xfrm>
            <a:off x="8732520" y="29260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vmodem_read()</a:t>
            </a:r>
            <a:endParaRPr lang="ru-RU" sz="1280" dirty="0"/>
          </a:p>
        </p:txBody>
      </p:sp>
      <p:sp>
        <p:nvSpPr>
          <p:cNvPr id="17" name="Text 15"/>
          <p:cNvSpPr/>
          <p:nvPr/>
        </p:nvSpPr>
        <p:spPr>
          <a:xfrm>
            <a:off x="6144768" y="3621024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poll()</a:t>
            </a:r>
            <a:endParaRPr lang="ru-RU" sz="1280" dirty="0"/>
          </a:p>
        </p:txBody>
      </p:sp>
      <p:sp>
        <p:nvSpPr>
          <p:cNvPr id="18" name="Text 16"/>
          <p:cNvSpPr/>
          <p:nvPr/>
        </p:nvSpPr>
        <p:spPr>
          <a:xfrm>
            <a:off x="8732520" y="3621024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vmodem_poll()</a:t>
            </a:r>
            <a:endParaRPr lang="ru-RU" sz="1280" dirty="0"/>
          </a:p>
        </p:txBody>
      </p:sp>
      <p:sp>
        <p:nvSpPr>
          <p:cNvPr id="19" name="Text 17"/>
          <p:cNvSpPr/>
          <p:nvPr/>
        </p:nvSpPr>
        <p:spPr>
          <a:xfrm>
            <a:off x="6144768" y="4315968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ioctl()</a:t>
            </a:r>
            <a:endParaRPr lang="ru-RU" sz="1280" dirty="0"/>
          </a:p>
        </p:txBody>
      </p:sp>
      <p:sp>
        <p:nvSpPr>
          <p:cNvPr id="20" name="Text 18"/>
          <p:cNvSpPr/>
          <p:nvPr/>
        </p:nvSpPr>
        <p:spPr>
          <a:xfrm>
            <a:off x="8732520" y="43159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vmodem_ioctl()</a:t>
            </a:r>
            <a:endParaRPr lang="ru-RU" sz="1280" dirty="0"/>
          </a:p>
        </p:txBody>
      </p:sp>
      <p:sp>
        <p:nvSpPr>
          <p:cNvPr id="21" name="Text 19"/>
          <p:cNvSpPr/>
          <p:nvPr/>
        </p:nvSpPr>
        <p:spPr>
          <a:xfrm>
            <a:off x="713232" y="48006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userspace драйвер выглядит как обычный файловый дескриптор. Это позволяет использовать стандартные утилиты и терминальные программы.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VMODEM_DEVICE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Внутреннее состояние одного модема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34155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7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 vmodem_device</a:t>
            </a:r>
            <a:endParaRPr lang="ru-RU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ru-RU" sz="1450" dirty="0"/>
          </a:p>
        </p:txBody>
      </p:sp>
      <p:sp>
        <p:nvSpPr>
          <p:cNvPr id="7" name="Text 5"/>
          <p:cNvSpPr/>
          <p:nvPr/>
        </p:nvSpPr>
        <p:spPr>
          <a:xfrm>
            <a:off x="2999232" y="2093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echo, registered, signal, sim_ready, operator, connected, call_state, IMEI, IMSI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command[]</a:t>
            </a:r>
            <a:endParaRPr lang="ru-RU" sz="1450" dirty="0"/>
          </a:p>
        </p:txBody>
      </p:sp>
      <p:sp>
        <p:nvSpPr>
          <p:cNvPr id="9" name="Text 7"/>
          <p:cNvSpPr/>
          <p:nvPr/>
        </p:nvSpPr>
        <p:spPr>
          <a:xfrm>
            <a:off x="2999232" y="2807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собираемая AT‑команда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777240" y="3483864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response[]</a:t>
            </a:r>
            <a:endParaRPr lang="ru-RU" sz="1450" dirty="0"/>
          </a:p>
        </p:txBody>
      </p:sp>
      <p:sp>
        <p:nvSpPr>
          <p:cNvPr id="11" name="Text 9"/>
          <p:cNvSpPr/>
          <p:nvPr/>
        </p:nvSpPr>
        <p:spPr>
          <a:xfrm>
            <a:off x="2999232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выходной поток модема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777240" y="4197096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state_lock / io_lock</a:t>
            </a:r>
            <a:endParaRPr lang="ru-RU" sz="1450" dirty="0"/>
          </a:p>
        </p:txBody>
      </p:sp>
      <p:sp>
        <p:nvSpPr>
          <p:cNvPr id="13" name="Text 11"/>
          <p:cNvSpPr/>
          <p:nvPr/>
        </p:nvSpPr>
        <p:spPr>
          <a:xfrm>
            <a:off x="2999232" y="4233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синхронизация состояния и I/O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777240" y="491032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response_wait</a:t>
            </a:r>
            <a:endParaRPr lang="ru-RU" sz="1450" dirty="0"/>
          </a:p>
        </p:txBody>
      </p:sp>
      <p:sp>
        <p:nvSpPr>
          <p:cNvPr id="15" name="Text 13"/>
          <p:cNvSpPr/>
          <p:nvPr/>
        </p:nvSpPr>
        <p:spPr>
          <a:xfrm>
            <a:off x="2999232" y="4946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данных для read()/poll()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7360920" y="150876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Архитектурный принцип</a:t>
            </a:r>
            <a:endParaRPr lang="ru-RU" sz="1700" dirty="0"/>
          </a:p>
          <a:p>
            <a:pPr marL="0" indent="0" algn="l">
              <a:buNone/>
            </a:pPr>
            <a:endParaRPr lang="ru-RU" sz="1700" dirty="0"/>
          </a:p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принадлежит vmodemN, а не открытому file descriptor.</a:t>
            </a:r>
            <a:endParaRPr lang="ru-RU" sz="1700" dirty="0"/>
          </a:p>
          <a:p>
            <a:pPr marL="0" indent="0" algn="l">
              <a:buNone/>
            </a:pPr>
            <a:endParaRPr lang="ru-RU" sz="1700" dirty="0"/>
          </a:p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close()/open() не сбрасывает echo, IMSI, сигнал, регистрацию и состояние вызова.</a:t>
            </a:r>
            <a:endParaRPr lang="ru-RU" sz="1700" dirty="0"/>
          </a:p>
        </p:txBody>
      </p:sp>
      <p:sp>
        <p:nvSpPr>
          <p:cNvPr id="17" name="Text 15"/>
          <p:cNvSpPr/>
          <p:nvPr/>
        </p:nvSpPr>
        <p:spPr>
          <a:xfrm>
            <a:off x="7406640" y="4983480"/>
            <a:ext cx="3913632" cy="731520"/>
          </a:xfrm>
          <a:prstGeom prst="roundRect">
            <a:avLst>
              <a:gd name="adj" fmla="val 625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→ ATE0 → close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→ AT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остаётся выключенным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ДАННЫХ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проходит AT‑команда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2743200"/>
            <a:ext cx="59436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0" y="2743200"/>
            <a:ext cx="59436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0" y="2743200"/>
            <a:ext cx="6858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06640" y="2743200"/>
            <a:ext cx="6858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59436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write()</a:t>
            </a:r>
            <a:endParaRPr lang="ru-RU" sz="1150" dirty="0"/>
          </a:p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userspace</a:t>
            </a:r>
            <a:endParaRPr lang="ru-RU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copy_from_user()</a:t>
            </a:r>
            <a:endParaRPr lang="ru-RU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consume_input_byte()</a:t>
            </a:r>
            <a:endParaRPr lang="ru-RU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vmodem_process_command()</a:t>
            </a:r>
            <a:endParaRPr lang="ru-RU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response[]</a:t>
            </a:r>
            <a:endParaRPr lang="ru-RU" sz="1150" dirty="0"/>
          </a:p>
        </p:txBody>
      </p:sp>
      <p:sp>
        <p:nvSpPr>
          <p:cNvPr id="15" name="Text 13"/>
          <p:cNvSpPr/>
          <p:nvPr/>
        </p:nvSpPr>
        <p:spPr>
          <a:xfrm>
            <a:off x="10012680" y="242316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read()</a:t>
            </a:r>
            <a:endParaRPr lang="ru-RU" sz="1150" dirty="0"/>
          </a:p>
          <a:p>
            <a:pPr marL="0" indent="0" algn="ctr">
              <a:buNone/>
            </a:pPr>
            <a:r>
              <a:rPr lang="ru-RU" alt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copy_to_user()</a:t>
            </a:r>
            <a:endParaRPr lang="ru-RU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write("A")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write("+CS")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write("Q\r")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4480560"/>
            <a:ext cx="77724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83480" y="393192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052E16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AT+CSQ\r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+CSQ: 20,99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40050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write() не обязан совпадать с одной AT‑командой: драйвер моделирует поток COM‑порта и собирает команду до CR.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MAKEFILE И KBUILD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модуля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840480" cy="301752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obj-m += vmodem.o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vmodem-y :=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src/main.o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src/device.o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src/state.o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src/at.o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src/ioctl.o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src/proc.o \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src/sysfs.o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4937760" y="141732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результат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vmodem.ko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1417320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insmod vmodem.ko modems=3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lsmod | grep vmodem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/dev/vmodem*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rmmod vmodem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4937760" y="3886200"/>
            <a:ext cx="6492240" cy="1097280"/>
          </a:xfrm>
          <a:prstGeom prst="roundRect">
            <a:avLst>
              <a:gd name="adj" fmla="val 6667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6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Makefile вызывает стандартную систему сборки внешних модулей ядра:</a:t>
            </a:r>
            <a:endParaRPr lang="ru-RU" sz="1650" dirty="0"/>
          </a:p>
          <a:p>
            <a:pPr marL="0" indent="0" algn="l">
              <a:buNone/>
            </a:pPr>
            <a:endParaRPr lang="ru-RU" sz="1650" dirty="0"/>
          </a:p>
          <a:p>
            <a:pPr marL="0" indent="0" algn="l">
              <a:buNone/>
            </a:pPr>
            <a:r>
              <a:rPr lang="ru-RU" altLang="en-US" sz="16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-C /lib/modules/$(uname -r)/build M=$(PWD) modules</a:t>
            </a:r>
            <a:endParaRPr lang="ru-RU" sz="1650" dirty="0"/>
          </a:p>
        </p:txBody>
      </p:sp>
      <p:sp>
        <p:nvSpPr>
          <p:cNvPr id="9" name="Text 7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CHECK.SH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тестирование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check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или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./check.sh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Устройства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/dev/vmodem0..2 и sysfs‑каталоги</a:t>
            </a:r>
            <a:endParaRPr lang="ru-RU" sz="1350" dirty="0"/>
          </a:p>
        </p:txBody>
      </p:sp>
      <p:sp>
        <p:nvSpPr>
          <p:cNvPr id="7" name="Text 5"/>
          <p:cNvSpPr/>
          <p:nvPr/>
        </p:nvSpPr>
        <p:spPr>
          <a:xfrm>
            <a:off x="7543800" y="132588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AT‑поток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AT, частичные write(), echo, Backspace</a:t>
            </a:r>
            <a:endParaRPr lang="ru-RU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258775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sysfs → AT, echo persistence, ATZ</a:t>
            </a:r>
            <a:endParaRPr lang="ru-RU" sz="1350" dirty="0"/>
          </a:p>
        </p:txBody>
      </p:sp>
      <p:sp>
        <p:nvSpPr>
          <p:cNvPr id="9" name="Text 7"/>
          <p:cNvSpPr/>
          <p:nvPr/>
        </p:nvSpPr>
        <p:spPr>
          <a:xfrm>
            <a:off x="7543800" y="258775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IMSI, изменение через sysfs, AT+CIMI</a:t>
            </a:r>
            <a:endParaRPr lang="ru-RU" sz="1350" dirty="0"/>
          </a:p>
        </p:txBody>
      </p:sp>
      <p:sp>
        <p:nvSpPr>
          <p:cNvPr id="10" name="Text 8"/>
          <p:cNvSpPr/>
          <p:nvPr/>
        </p:nvSpPr>
        <p:spPr>
          <a:xfrm>
            <a:off x="3657600" y="3849624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 → CONNECT, carrier loss → NO CARRIER</a:t>
            </a:r>
            <a:endParaRPr lang="ru-RU" sz="1350" dirty="0"/>
          </a:p>
        </p:txBody>
      </p:sp>
      <p:sp>
        <p:nvSpPr>
          <p:cNvPr id="11" name="Text 9"/>
          <p:cNvSpPr/>
          <p:nvPr/>
        </p:nvSpPr>
        <p:spPr>
          <a:xfrm>
            <a:off x="7543800" y="3849624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</a:t>
            </a:r>
            <a:endParaRPr lang="ru-RU" sz="1350" dirty="0"/>
          </a:p>
          <a:p>
            <a:pPr marL="0" indent="0" algn="l">
              <a:buNone/>
            </a:pPr>
            <a:r>
              <a:rPr lang="ru-RU" alt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состояния всех vmodemN</a:t>
            </a:r>
            <a:endParaRPr lang="ru-RU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check.sh проверяет не только загрузку модуля, но и семантику виртуального COM‑порта и модели модема.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драйвера: три интерфейса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331720" y="2743200"/>
            <a:ext cx="18288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01000" y="2743200"/>
            <a:ext cx="164592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080760" y="3273552"/>
            <a:ext cx="0" cy="749808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/dev/vmodem0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AT‑команды клиента</a:t>
            </a:r>
            <a:endParaRPr lang="ru-RU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48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</a:t>
            </a:r>
            <a:endParaRPr lang="ru-RU" sz="1400" dirty="0"/>
          </a:p>
          <a:p>
            <a:pPr marL="0" indent="0" algn="ctr">
              <a:buNone/>
            </a:pPr>
            <a:r>
              <a:rPr lang="ru-RU" alt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vmodem.ko</a:t>
            </a:r>
            <a:endParaRPr lang="ru-RU" sz="1400" dirty="0"/>
          </a:p>
        </p:txBody>
      </p:sp>
      <p:sp>
        <p:nvSpPr>
          <p:cNvPr id="10" name="Text 8"/>
          <p:cNvSpPr/>
          <p:nvPr/>
        </p:nvSpPr>
        <p:spPr>
          <a:xfrm>
            <a:off x="9372600" y="21488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/sys/class/vmodem/vmodem0</a:t>
            </a:r>
            <a:endParaRPr lang="ru-RU" sz="1270" dirty="0"/>
          </a:p>
          <a:p>
            <a:pPr marL="0" indent="0" algn="ctr">
              <a:buNone/>
            </a:pPr>
            <a:r>
              <a:rPr lang="ru-RU" altLang="en-US" sz="12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и управление</a:t>
            </a:r>
            <a:endParaRPr lang="ru-RU" sz="1270" dirty="0"/>
          </a:p>
        </p:txBody>
      </p:sp>
      <p:sp>
        <p:nvSpPr>
          <p:cNvPr id="11" name="Text 9"/>
          <p:cNvSpPr/>
          <p:nvPr/>
        </p:nvSpPr>
        <p:spPr>
          <a:xfrm>
            <a:off x="4617720" y="425196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4C1D9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/proc/vmodem</a:t>
            </a:r>
            <a:endParaRPr lang="ru-RU" sz="1280" dirty="0"/>
          </a:p>
          <a:p>
            <a:pPr marL="0" indent="0" algn="ctr">
              <a:buNone/>
            </a:pPr>
            <a:r>
              <a:rPr lang="ru-RU" altLang="en-US" sz="12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всех устройств</a:t>
            </a:r>
            <a:endParaRPr lang="ru-RU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AT+CSQ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AT+CIMI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ATD123;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9528048" y="3749040"/>
            <a:ext cx="1691640" cy="1389888"/>
          </a:xfrm>
          <a:prstGeom prst="roundRect">
            <a:avLst>
              <a:gd name="adj" fmla="val 3289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sim_ready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call_state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dial_number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68680" y="56235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AT‑команды через /dev работают с тем же состоянием, которое отображается в sysfs.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IMEI / IMSI / CPIN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модем и виртуальная SIM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3429000" cy="187452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AT+CGSN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356789012340000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/sys/class/vmodem/vmodem0/imei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356789012340000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AT+CIMI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250011234560000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/sys/class/vmodem/vmodem0/imsi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250011234560000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AT+CPIN?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+CPIN: READY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0 | sudo tee .../sim_ready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AT+CPIN?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+CPIN: SIM PIN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10287000" cy="1143000"/>
          </a:xfrm>
          <a:prstGeom prst="roundRect">
            <a:avLst>
              <a:gd name="adj" fmla="val 6400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параметров</a:t>
            </a:r>
            <a:endParaRPr lang="ru-RU" sz="1700" dirty="0"/>
          </a:p>
          <a:p>
            <a:pPr marL="0" indent="0" algn="l">
              <a:buNone/>
            </a:pPr>
            <a:endParaRPr lang="ru-RU" sz="1700" dirty="0"/>
          </a:p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IMEI — идентификатор модема.</a:t>
            </a:r>
            <a:endParaRPr lang="ru-RU" sz="1700" dirty="0"/>
          </a:p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IMSI — идентификатор SIM‑карты.</a:t>
            </a:r>
            <a:endParaRPr lang="ru-RU" sz="1700" dirty="0"/>
          </a:p>
          <a:p>
            <a:pPr marL="0" indent="0" algn="l">
              <a:buNone/>
            </a:pPr>
            <a:r>
              <a:rPr lang="ru-RU" alt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sim_ready — состояние SIM, влияющее на ответы AT+CPIN? и возможность соединения.</a:t>
            </a:r>
            <a:endParaRPr lang="ru-RU" sz="1700" dirty="0"/>
          </a:p>
        </p:txBody>
      </p:sp>
      <p:sp>
        <p:nvSpPr>
          <p:cNvPr id="9" name="Text 7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CREG / COPS / CSQ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сеть и параметры среды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ru-RU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182112" cy="210312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AT+CREG?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+CREG: 0,1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/sys/.../registered →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A78BFA"/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901952"/>
            <a:ext cx="3182112" cy="210312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AT+COPS?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+COPS: 0,0,"VMODEM"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/sys/.../operator → VMODEM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66760" y="14173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сигнала</a:t>
            </a:r>
            <a:endParaRPr lang="ru-RU" sz="1000" dirty="0"/>
          </a:p>
        </p:txBody>
      </p:sp>
      <p:sp>
        <p:nvSpPr>
          <p:cNvPr id="10" name="Text 8"/>
          <p:cNvSpPr/>
          <p:nvPr/>
        </p:nvSpPr>
        <p:spPr>
          <a:xfrm>
            <a:off x="8366760" y="1901952"/>
            <a:ext cx="3182112" cy="210312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AT+CSQ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+CSQ: 20,99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7 &gt; .../signal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AT+CSQ → +CSQ: 7,99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5156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sysfs моделирует внешнюю среду модема; AT‑интерфейс показывает, как эту среду видит клиентская программа.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8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 / CLCC / ATH</a:t>
            </a:r>
            <a:endParaRPr lang="ru-RU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прохождение вызова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0" y="2743200"/>
            <a:ext cx="150876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766560" y="2743200"/>
            <a:ext cx="141732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вызова</a:t>
            </a:r>
            <a:endParaRPr lang="ru-RU" sz="1300" dirty="0"/>
          </a:p>
          <a:p>
            <a:pPr marL="0" indent="0" algn="ctr">
              <a:buNone/>
            </a:pPr>
            <a:r>
              <a:rPr lang="ru-RU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call_state=idle</a:t>
            </a:r>
            <a:endParaRPr lang="ru-RU" sz="1300" dirty="0"/>
          </a:p>
          <a:p>
            <a:pPr marL="0" indent="0" algn="ctr">
              <a:buNone/>
            </a:pPr>
            <a:r>
              <a:rPr lang="ru-RU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connected=0</a:t>
            </a:r>
            <a:endParaRPr lang="ru-RU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21488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ATD123456789;</a:t>
            </a:r>
            <a:endParaRPr lang="ru-RU" sz="1300" dirty="0"/>
          </a:p>
          <a:p>
            <a:pPr marL="0" indent="0" algn="ctr">
              <a:buNone/>
            </a:pPr>
            <a:r>
              <a:rPr lang="ru-RU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CONNECT</a:t>
            </a:r>
            <a:endParaRPr lang="ru-RU" sz="1300" dirty="0"/>
          </a:p>
        </p:txBody>
      </p:sp>
      <p:sp>
        <p:nvSpPr>
          <p:cNvPr id="9" name="Text 7"/>
          <p:cNvSpPr/>
          <p:nvPr/>
        </p:nvSpPr>
        <p:spPr>
          <a:xfrm>
            <a:off x="8183880" y="1993392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alt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вызова</a:t>
            </a:r>
            <a:endParaRPr lang="ru-RU" sz="1220" dirty="0"/>
          </a:p>
          <a:p>
            <a:pPr marL="0" indent="0" algn="ctr">
              <a:buNone/>
            </a:pPr>
            <a:r>
              <a:rPr lang="ru-RU" alt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call_state=active</a:t>
            </a:r>
            <a:endParaRPr lang="ru-RU" sz="1220" dirty="0"/>
          </a:p>
          <a:p>
            <a:pPr marL="0" indent="0" algn="ctr">
              <a:buNone/>
            </a:pPr>
            <a:r>
              <a:rPr lang="ru-RU" alt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connected=1</a:t>
            </a:r>
            <a:endParaRPr lang="ru-RU" sz="1220" dirty="0"/>
          </a:p>
          <a:p>
            <a:pPr marL="0" indent="0" algn="ctr">
              <a:buNone/>
            </a:pPr>
            <a:r>
              <a:rPr lang="ru-RU" alt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dial_number=123456789</a:t>
            </a:r>
            <a:endParaRPr lang="ru-RU" sz="122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2926080" cy="96012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.../call_state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.../connected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.../dial_number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4343400" y="3703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AT+CLCC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информация о текущем вызове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OK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call_state=idle, connected=0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183880" y="397764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2A0C0C"/>
          </a:solidFill>
          <a:ln w="1270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0 | sudo tee .../connected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CARRIER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СЦЕНАРИЙ ДЕМОНСТРАЦИИ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Последовательность работы с виртуальным модемом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344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429000" y="1344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→ insmod → /dev/vmodem0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2900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AT, ATI, AT+CGSN, AT+CIMI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29000" y="27157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AT+CPIN? ↔ sysfs/sim_ready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3558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429000" y="34015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CREG, COPS, CSQ ↔ registered/operator/signal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0416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0873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429000" y="4087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 → CONNECT ↔ call_state/connected/dial_number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4727448"/>
            <a:ext cx="393192" cy="310896"/>
          </a:xfrm>
          <a:prstGeom prst="roundRect">
            <a:avLst>
              <a:gd name="adj" fmla="val 23529"/>
            </a:avLst>
          </a:prstGeom>
          <a:solidFill>
            <a:srgbClr val="F87171"/>
          </a:solidFill>
          <a:ln>
            <a:solidFill>
              <a:srgbClr val="F8717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altLang="en-US" sz="10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4773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429000" y="4773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AT+CLCC, ATH или внешняя потеря carrier → NO CARRIER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t>Итоговая модель</a:t>
            </a:r>
          </a:p>
          <a:p>
            <a:endParaRPr/>
          </a:p>
          <a:p>
            <a:r>
              <a:t>Виртуальный GSM‑модем работает как символьное устройство Linux: AT‑команды передаются через /dev/vmodemN, а sysfs отображает и позволяет изменять параметры модема, SIM‑карты, сети и вызова.</a:t>
            </a:r>
          </a:p>
        </p:txBody>
      </p:sp>
      <p:sp>
        <p:nvSpPr>
          <p:cNvPr id="24" name="Text 22"/>
          <p:cNvSpPr/>
          <p:nvPr/>
        </p:nvSpPr>
        <p:spPr>
          <a:xfrm>
            <a:off x="11292840" y="64190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1461</Words>
  <Application>Microsoft Office PowerPoint</Application>
  <PresentationFormat>Широкоэкранный</PresentationFormat>
  <Paragraphs>331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Виртуальный GSM-модем: символьный драйвер Linux</dc:title>
  <dc:subject>Учебный проект символьного драйвера Linux — виртуальный модем</dc:subject>
  <dc:creator>OpenAI</dc:creator>
  <cp:lastModifiedBy>Chuprov Dmitriy</cp:lastModifiedBy>
  <cp:revision>2</cp:revision>
  <dcterms:created xsi:type="dcterms:W3CDTF">2026-09-23T16:32:01Z</dcterms:created>
  <dcterms:modified xsi:type="dcterms:W3CDTF">2026-09-23T16:52:51Z</dcterms:modified>
</cp:coreProperties>
</file>